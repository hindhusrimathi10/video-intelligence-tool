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0"/>
            <a:ext cx="8229600" cy="1097280"/>
          </a:xfrm>
          <a:prstGeom prst="rect">
            <a:avLst/>
          </a:prstGeom>
          <a:noFill/>
        </p:spPr>
        <p:txBody>
          <a:bodyPr wrap="square">
            <a:spAutoFit/>
          </a:bodyPr>
          <a:lstStyle/>
          <a:p>
            <a:pPr algn="ctr"/>
            <a:r>
              <a:rPr sz="4400" b="1" i="0">
                <a:solidFill>
                  <a:srgbClr val="FFFFFF"/>
                </a:solidFill>
              </a:rPr>
              <a:t>VIDEO COMPETITOR</a:t>
            </a:r>
          </a:p>
        </p:txBody>
      </p:sp>
      <p:sp>
        <p:nvSpPr>
          <p:cNvPr id="4" name="TextBox 3"/>
          <p:cNvSpPr txBox="1"/>
          <p:nvPr/>
        </p:nvSpPr>
        <p:spPr>
          <a:xfrm>
            <a:off x="457200" y="2011680"/>
            <a:ext cx="8229600" cy="1097280"/>
          </a:xfrm>
          <a:prstGeom prst="rect">
            <a:avLst/>
          </a:prstGeom>
          <a:noFill/>
        </p:spPr>
        <p:txBody>
          <a:bodyPr wrap="square">
            <a:spAutoFit/>
          </a:bodyPr>
          <a:lstStyle/>
          <a:p>
            <a:pPr algn="ctr"/>
            <a:r>
              <a:rPr sz="4400" b="1" i="0">
                <a:solidFill>
                  <a:srgbClr val="3B82F6"/>
                </a:solidFill>
              </a:rPr>
              <a:t>INTELLIGENCE REPORT</a:t>
            </a:r>
          </a:p>
        </p:txBody>
      </p:sp>
      <p:sp>
        <p:nvSpPr>
          <p:cNvPr id="5" name="Rectangle 4"/>
          <p:cNvSpPr/>
          <p:nvPr/>
        </p:nvSpPr>
        <p:spPr>
          <a:xfrm>
            <a:off x="2743200" y="301752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291840"/>
            <a:ext cx="8229600" cy="548640"/>
          </a:xfrm>
          <a:prstGeom prst="rect">
            <a:avLst/>
          </a:prstGeom>
          <a:noFill/>
        </p:spPr>
        <p:txBody>
          <a:bodyPr wrap="square">
            <a:spAutoFit/>
          </a:bodyPr>
          <a:lstStyle/>
          <a:p>
            <a:pPr algn="ctr"/>
            <a:r>
              <a:rPr sz="2000" b="1" i="0">
                <a:solidFill>
                  <a:srgbClr val="10B981"/>
                </a:solidFill>
              </a:rPr>
              <a:t>Primary Company: Google</a:t>
            </a:r>
          </a:p>
        </p:txBody>
      </p:sp>
      <p:sp>
        <p:nvSpPr>
          <p:cNvPr id="7" name="TextBox 6"/>
          <p:cNvSpPr txBox="1"/>
          <p:nvPr/>
        </p:nvSpPr>
        <p:spPr>
          <a:xfrm>
            <a:off x="457200" y="3931920"/>
            <a:ext cx="8229600" cy="548640"/>
          </a:xfrm>
          <a:prstGeom prst="rect">
            <a:avLst/>
          </a:prstGeom>
          <a:noFill/>
        </p:spPr>
        <p:txBody>
          <a:bodyPr wrap="square">
            <a:spAutoFit/>
          </a:bodyPr>
          <a:lstStyle/>
          <a:p>
            <a:pPr algn="ctr"/>
            <a:r>
              <a:rPr sz="1400" b="0" i="0">
                <a:solidFill>
                  <a:srgbClr val="94A3B8"/>
                </a:solidFill>
              </a:rPr>
              <a:t>Competitors: Apple | Microsoft | Meta | Amazon</a:t>
            </a:r>
          </a:p>
        </p:txBody>
      </p:sp>
      <p:sp>
        <p:nvSpPr>
          <p:cNvPr id="8" name="TextBox 7"/>
          <p:cNvSpPr txBox="1"/>
          <p:nvPr/>
        </p:nvSpPr>
        <p:spPr>
          <a:xfrm>
            <a:off x="457200" y="4754880"/>
            <a:ext cx="8229600" cy="457200"/>
          </a:xfrm>
          <a:prstGeom prst="rect">
            <a:avLst/>
          </a:prstGeom>
          <a:noFill/>
        </p:spPr>
        <p:txBody>
          <a:bodyPr wrap="square">
            <a:spAutoFit/>
          </a:bodyPr>
          <a:lstStyle/>
          <a:p>
            <a:pPr algn="ctr"/>
            <a:r>
              <a:rPr sz="1200" b="0" i="0">
                <a:solidFill>
                  <a:srgbClr val="94A3B8"/>
                </a:solidFill>
              </a:rPr>
              <a:t>Report Generated: May 20, 2026</a:t>
            </a:r>
          </a:p>
        </p:txBody>
      </p:sp>
      <p:sp>
        <p:nvSpPr>
          <p:cNvPr id="9" name="Rectangle 8"/>
          <p:cNvSpPr/>
          <p:nvPr/>
        </p:nvSpPr>
        <p:spPr>
          <a:xfrm>
            <a:off x="0" y="6309360"/>
            <a:ext cx="9144000" cy="91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355080"/>
            <a:ext cx="8229600" cy="274320"/>
          </a:xfrm>
          <a:prstGeom prst="rect">
            <a:avLst/>
          </a:prstGeom>
          <a:noFill/>
        </p:spPr>
        <p:txBody>
          <a:bodyPr wrap="square">
            <a:spAutoFit/>
          </a:bodyPr>
          <a:lstStyle/>
          <a:p>
            <a:pPr algn="ctr"/>
            <a:r>
              <a:rPr sz="900" b="0" i="0">
                <a:solidFill>
                  <a:srgbClr val="94A3B8"/>
                </a:solidFill>
              </a:rPr>
              <a:t>CONFIDENTIAL — Video Marketing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02</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800" b="1" i="0">
                <a:solidFill>
                  <a:srgbClr val="FFFFFF"/>
                </a:solidFill>
              </a:rPr>
              <a:t>EXECUTIVE SUMMARY</a:t>
            </a:r>
          </a:p>
        </p:txBody>
      </p:sp>
      <p:sp>
        <p:nvSpPr>
          <p:cNvPr id="5" name="Rectangle 4"/>
          <p:cNvSpPr/>
          <p:nvPr/>
        </p:nvSpPr>
        <p:spPr>
          <a:xfrm>
            <a:off x="457200" y="777240"/>
            <a:ext cx="82296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8412480" cy="3200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7955279" cy="3017520"/>
          </a:xfrm>
          <a:prstGeom prst="rect">
            <a:avLst/>
          </a:prstGeom>
          <a:noFill/>
        </p:spPr>
        <p:txBody>
          <a:bodyPr wrap="square">
            <a:spAutoFit/>
          </a:bodyPr>
          <a:lstStyle/>
          <a:p>
            <a:pPr algn="l"/>
            <a:r>
              <a:rPr sz="1300" b="0" i="0">
                <a:solidFill>
                  <a:srgbClr val="FFFFFF"/>
                </a:solidFill>
              </a:rPr>
              <a:t>**
The video marketing landscape is led by Apple, with an impressive 20.6 million subscribers, surpassing its closest competitor, Amazon, by a significant margin. Apple's high engagement metrics, including an average of 391,494 views per video and 3,283 likes per video, demonstrate its strong influence in the market. Google, with 784,000 subscribers, lags behind its competitors but still maintains a consistent upload frequency and decent engagement metrics. To improve, Google should focus on increasing its subscriber base and creating more engaging content, considering its current average view</a:t>
            </a:r>
          </a:p>
        </p:txBody>
      </p:sp>
      <p:sp>
        <p:nvSpPr>
          <p:cNvPr id="8" name="Rectangle 7"/>
          <p:cNvSpPr/>
          <p:nvPr/>
        </p:nvSpPr>
        <p:spPr>
          <a:xfrm>
            <a:off x="457200" y="4297680"/>
            <a:ext cx="155448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4297680"/>
            <a:ext cx="155448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389120"/>
            <a:ext cx="1463040" cy="365760"/>
          </a:xfrm>
          <a:prstGeom prst="rect">
            <a:avLst/>
          </a:prstGeom>
          <a:noFill/>
        </p:spPr>
        <p:txBody>
          <a:bodyPr wrap="square">
            <a:spAutoFit/>
          </a:bodyPr>
          <a:lstStyle/>
          <a:p>
            <a:pPr algn="l"/>
            <a:r>
              <a:rPr sz="1000" b="1" i="0">
                <a:solidFill>
                  <a:srgbClr val="3B82F6"/>
                </a:solidFill>
              </a:rPr>
              <a:t>Google</a:t>
            </a:r>
          </a:p>
        </p:txBody>
      </p:sp>
      <p:sp>
        <p:nvSpPr>
          <p:cNvPr id="11" name="TextBox 10"/>
          <p:cNvSpPr txBox="1"/>
          <p:nvPr/>
        </p:nvSpPr>
        <p:spPr>
          <a:xfrm>
            <a:off x="502920" y="4754880"/>
            <a:ext cx="1463040" cy="365760"/>
          </a:xfrm>
          <a:prstGeom prst="rect">
            <a:avLst/>
          </a:prstGeom>
          <a:noFill/>
        </p:spPr>
        <p:txBody>
          <a:bodyPr wrap="square">
            <a:spAutoFit/>
          </a:bodyPr>
          <a:lstStyle/>
          <a:p>
            <a:pPr algn="l"/>
            <a:r>
              <a:rPr sz="1400" b="1" i="0">
                <a:solidFill>
                  <a:srgbClr val="FFFFFF"/>
                </a:solidFill>
              </a:rPr>
              <a:t>784,000</a:t>
            </a:r>
          </a:p>
        </p:txBody>
      </p:sp>
      <p:sp>
        <p:nvSpPr>
          <p:cNvPr id="12" name="TextBox 11"/>
          <p:cNvSpPr txBox="1"/>
          <p:nvPr/>
        </p:nvSpPr>
        <p:spPr>
          <a:xfrm>
            <a:off x="502920" y="5120640"/>
            <a:ext cx="1463040" cy="274320"/>
          </a:xfrm>
          <a:prstGeom prst="rect">
            <a:avLst/>
          </a:prstGeom>
          <a:noFill/>
        </p:spPr>
        <p:txBody>
          <a:bodyPr wrap="square">
            <a:spAutoFit/>
          </a:bodyPr>
          <a:lstStyle/>
          <a:p>
            <a:pPr algn="l"/>
            <a:r>
              <a:rPr sz="800" b="0" i="0">
                <a:solidFill>
                  <a:srgbClr val="94A3B8"/>
                </a:solidFill>
              </a:rPr>
              <a:t>subscribers</a:t>
            </a:r>
          </a:p>
        </p:txBody>
      </p:sp>
      <p:sp>
        <p:nvSpPr>
          <p:cNvPr id="13" name="Rectangle 12"/>
          <p:cNvSpPr/>
          <p:nvPr/>
        </p:nvSpPr>
        <p:spPr>
          <a:xfrm>
            <a:off x="2103120" y="4297680"/>
            <a:ext cx="155448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03120" y="4297680"/>
            <a:ext cx="15544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48839" y="4389120"/>
            <a:ext cx="1463040" cy="365760"/>
          </a:xfrm>
          <a:prstGeom prst="rect">
            <a:avLst/>
          </a:prstGeom>
          <a:noFill/>
        </p:spPr>
        <p:txBody>
          <a:bodyPr wrap="square">
            <a:spAutoFit/>
          </a:bodyPr>
          <a:lstStyle/>
          <a:p>
            <a:pPr algn="l"/>
            <a:r>
              <a:rPr sz="1000" b="1" i="0">
                <a:solidFill>
                  <a:srgbClr val="10B981"/>
                </a:solidFill>
              </a:rPr>
              <a:t>Apple</a:t>
            </a:r>
          </a:p>
        </p:txBody>
      </p:sp>
      <p:sp>
        <p:nvSpPr>
          <p:cNvPr id="16" name="TextBox 15"/>
          <p:cNvSpPr txBox="1"/>
          <p:nvPr/>
        </p:nvSpPr>
        <p:spPr>
          <a:xfrm>
            <a:off x="2148839" y="4754880"/>
            <a:ext cx="1463040" cy="365760"/>
          </a:xfrm>
          <a:prstGeom prst="rect">
            <a:avLst/>
          </a:prstGeom>
          <a:noFill/>
        </p:spPr>
        <p:txBody>
          <a:bodyPr wrap="square">
            <a:spAutoFit/>
          </a:bodyPr>
          <a:lstStyle/>
          <a:p>
            <a:pPr algn="l"/>
            <a:r>
              <a:rPr sz="1400" b="1" i="0">
                <a:solidFill>
                  <a:srgbClr val="FFFFFF"/>
                </a:solidFill>
              </a:rPr>
              <a:t>20,600,000</a:t>
            </a:r>
          </a:p>
        </p:txBody>
      </p:sp>
      <p:sp>
        <p:nvSpPr>
          <p:cNvPr id="17" name="TextBox 16"/>
          <p:cNvSpPr txBox="1"/>
          <p:nvPr/>
        </p:nvSpPr>
        <p:spPr>
          <a:xfrm>
            <a:off x="2148839" y="5120640"/>
            <a:ext cx="1463040" cy="274320"/>
          </a:xfrm>
          <a:prstGeom prst="rect">
            <a:avLst/>
          </a:prstGeom>
          <a:noFill/>
        </p:spPr>
        <p:txBody>
          <a:bodyPr wrap="square">
            <a:spAutoFit/>
          </a:bodyPr>
          <a:lstStyle/>
          <a:p>
            <a:pPr algn="l"/>
            <a:r>
              <a:rPr sz="800" b="0" i="0">
                <a:solidFill>
                  <a:srgbClr val="94A3B8"/>
                </a:solidFill>
              </a:rPr>
              <a:t>subscribers</a:t>
            </a:r>
          </a:p>
        </p:txBody>
      </p:sp>
      <p:sp>
        <p:nvSpPr>
          <p:cNvPr id="18" name="Rectangle 17"/>
          <p:cNvSpPr/>
          <p:nvPr/>
        </p:nvSpPr>
        <p:spPr>
          <a:xfrm>
            <a:off x="3749039" y="4297680"/>
            <a:ext cx="155448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749039" y="4297680"/>
            <a:ext cx="15544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59" y="4389120"/>
            <a:ext cx="1463040" cy="365760"/>
          </a:xfrm>
          <a:prstGeom prst="rect">
            <a:avLst/>
          </a:prstGeom>
          <a:noFill/>
        </p:spPr>
        <p:txBody>
          <a:bodyPr wrap="square">
            <a:spAutoFit/>
          </a:bodyPr>
          <a:lstStyle/>
          <a:p>
            <a:pPr algn="l"/>
            <a:r>
              <a:rPr sz="1000" b="1" i="0">
                <a:solidFill>
                  <a:srgbClr val="F59E0B"/>
                </a:solidFill>
              </a:rPr>
              <a:t>Microsoft</a:t>
            </a:r>
          </a:p>
        </p:txBody>
      </p:sp>
      <p:sp>
        <p:nvSpPr>
          <p:cNvPr id="21" name="TextBox 20"/>
          <p:cNvSpPr txBox="1"/>
          <p:nvPr/>
        </p:nvSpPr>
        <p:spPr>
          <a:xfrm>
            <a:off x="3794759" y="4754880"/>
            <a:ext cx="1463040" cy="365760"/>
          </a:xfrm>
          <a:prstGeom prst="rect">
            <a:avLst/>
          </a:prstGeom>
          <a:noFill/>
        </p:spPr>
        <p:txBody>
          <a:bodyPr wrap="square">
            <a:spAutoFit/>
          </a:bodyPr>
          <a:lstStyle/>
          <a:p>
            <a:pPr algn="l"/>
            <a:r>
              <a:rPr sz="1400" b="1" i="0">
                <a:solidFill>
                  <a:srgbClr val="FFFFFF"/>
                </a:solidFill>
              </a:rPr>
              <a:t>2,170,000</a:t>
            </a:r>
          </a:p>
        </p:txBody>
      </p:sp>
      <p:sp>
        <p:nvSpPr>
          <p:cNvPr id="22" name="TextBox 21"/>
          <p:cNvSpPr txBox="1"/>
          <p:nvPr/>
        </p:nvSpPr>
        <p:spPr>
          <a:xfrm>
            <a:off x="3794759" y="5120640"/>
            <a:ext cx="1463040" cy="274320"/>
          </a:xfrm>
          <a:prstGeom prst="rect">
            <a:avLst/>
          </a:prstGeom>
          <a:noFill/>
        </p:spPr>
        <p:txBody>
          <a:bodyPr wrap="square">
            <a:spAutoFit/>
          </a:bodyPr>
          <a:lstStyle/>
          <a:p>
            <a:pPr algn="l"/>
            <a:r>
              <a:rPr sz="800" b="0" i="0">
                <a:solidFill>
                  <a:srgbClr val="94A3B8"/>
                </a:solidFill>
              </a:rPr>
              <a:t>subscribers</a:t>
            </a:r>
          </a:p>
        </p:txBody>
      </p:sp>
      <p:sp>
        <p:nvSpPr>
          <p:cNvPr id="23" name="Rectangle 22"/>
          <p:cNvSpPr/>
          <p:nvPr/>
        </p:nvSpPr>
        <p:spPr>
          <a:xfrm>
            <a:off x="5394960" y="4297680"/>
            <a:ext cx="155448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94960" y="4297680"/>
            <a:ext cx="155448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40680" y="4389120"/>
            <a:ext cx="1463040" cy="365760"/>
          </a:xfrm>
          <a:prstGeom prst="rect">
            <a:avLst/>
          </a:prstGeom>
          <a:noFill/>
        </p:spPr>
        <p:txBody>
          <a:bodyPr wrap="square">
            <a:spAutoFit/>
          </a:bodyPr>
          <a:lstStyle/>
          <a:p>
            <a:pPr algn="l"/>
            <a:r>
              <a:rPr sz="1000" b="1" i="0">
                <a:solidFill>
                  <a:srgbClr val="EF4444"/>
                </a:solidFill>
              </a:rPr>
              <a:t>Meta</a:t>
            </a:r>
          </a:p>
        </p:txBody>
      </p:sp>
      <p:sp>
        <p:nvSpPr>
          <p:cNvPr id="26" name="TextBox 25"/>
          <p:cNvSpPr txBox="1"/>
          <p:nvPr/>
        </p:nvSpPr>
        <p:spPr>
          <a:xfrm>
            <a:off x="5440680" y="4754880"/>
            <a:ext cx="1463040" cy="365760"/>
          </a:xfrm>
          <a:prstGeom prst="rect">
            <a:avLst/>
          </a:prstGeom>
          <a:noFill/>
        </p:spPr>
        <p:txBody>
          <a:bodyPr wrap="square">
            <a:spAutoFit/>
          </a:bodyPr>
          <a:lstStyle/>
          <a:p>
            <a:pPr algn="l"/>
            <a:r>
              <a:rPr sz="1400" b="1" i="0">
                <a:solidFill>
                  <a:srgbClr val="FFFFFF"/>
                </a:solidFill>
              </a:rPr>
              <a:t>27,000</a:t>
            </a:r>
          </a:p>
        </p:txBody>
      </p:sp>
      <p:sp>
        <p:nvSpPr>
          <p:cNvPr id="27" name="TextBox 26"/>
          <p:cNvSpPr txBox="1"/>
          <p:nvPr/>
        </p:nvSpPr>
        <p:spPr>
          <a:xfrm>
            <a:off x="5440680" y="5120640"/>
            <a:ext cx="1463040" cy="274320"/>
          </a:xfrm>
          <a:prstGeom prst="rect">
            <a:avLst/>
          </a:prstGeom>
          <a:noFill/>
        </p:spPr>
        <p:txBody>
          <a:bodyPr wrap="square">
            <a:spAutoFit/>
          </a:bodyPr>
          <a:lstStyle/>
          <a:p>
            <a:pPr algn="l"/>
            <a:r>
              <a:rPr sz="800" b="0" i="0">
                <a:solidFill>
                  <a:srgbClr val="94A3B8"/>
                </a:solidFill>
              </a:rPr>
              <a:t>subscribers</a:t>
            </a:r>
          </a:p>
        </p:txBody>
      </p:sp>
      <p:sp>
        <p:nvSpPr>
          <p:cNvPr id="28" name="Rectangle 27"/>
          <p:cNvSpPr/>
          <p:nvPr/>
        </p:nvSpPr>
        <p:spPr>
          <a:xfrm>
            <a:off x="7040880" y="4297680"/>
            <a:ext cx="155448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040880" y="4297680"/>
            <a:ext cx="155448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6600" y="4389120"/>
            <a:ext cx="1463040" cy="365760"/>
          </a:xfrm>
          <a:prstGeom prst="rect">
            <a:avLst/>
          </a:prstGeom>
          <a:noFill/>
        </p:spPr>
        <p:txBody>
          <a:bodyPr wrap="square">
            <a:spAutoFit/>
          </a:bodyPr>
          <a:lstStyle/>
          <a:p>
            <a:pPr algn="l"/>
            <a:r>
              <a:rPr sz="1000" b="1" i="0">
                <a:solidFill>
                  <a:srgbClr val="A855F7"/>
                </a:solidFill>
              </a:rPr>
              <a:t>Amazon</a:t>
            </a:r>
          </a:p>
        </p:txBody>
      </p:sp>
      <p:sp>
        <p:nvSpPr>
          <p:cNvPr id="31" name="TextBox 30"/>
          <p:cNvSpPr txBox="1"/>
          <p:nvPr/>
        </p:nvSpPr>
        <p:spPr>
          <a:xfrm>
            <a:off x="7086600" y="4754880"/>
            <a:ext cx="1463040" cy="365760"/>
          </a:xfrm>
          <a:prstGeom prst="rect">
            <a:avLst/>
          </a:prstGeom>
          <a:noFill/>
        </p:spPr>
        <p:txBody>
          <a:bodyPr wrap="square">
            <a:spAutoFit/>
          </a:bodyPr>
          <a:lstStyle/>
          <a:p>
            <a:pPr algn="l"/>
            <a:r>
              <a:rPr sz="1400" b="1" i="0">
                <a:solidFill>
                  <a:srgbClr val="FFFFFF"/>
                </a:solidFill>
              </a:rPr>
              <a:t>4,700,000</a:t>
            </a:r>
          </a:p>
        </p:txBody>
      </p:sp>
      <p:sp>
        <p:nvSpPr>
          <p:cNvPr id="32" name="TextBox 31"/>
          <p:cNvSpPr txBox="1"/>
          <p:nvPr/>
        </p:nvSpPr>
        <p:spPr>
          <a:xfrm>
            <a:off x="7086600" y="5120640"/>
            <a:ext cx="1463040" cy="274320"/>
          </a:xfrm>
          <a:prstGeom prst="rect">
            <a:avLst/>
          </a:prstGeom>
          <a:noFill/>
        </p:spPr>
        <p:txBody>
          <a:bodyPr wrap="square">
            <a:spAutoFit/>
          </a:bodyPr>
          <a:lstStyle/>
          <a:p>
            <a:pPr algn="l"/>
            <a:r>
              <a:rPr sz="800" b="0" i="0">
                <a:solidFill>
                  <a:srgbClr val="94A3B8"/>
                </a:solidFill>
              </a:rPr>
              <a:t>subscribers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03</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600" b="1" i="0">
                <a:solidFill>
                  <a:srgbClr val="FFFFFF"/>
                </a:solidFill>
              </a:rPr>
              <a:t>CHANNEL OVERVIEW COMPARISON</a:t>
            </a:r>
          </a:p>
        </p:txBody>
      </p:sp>
      <p:sp>
        <p:nvSpPr>
          <p:cNvPr id="5" name="Rectangle 4"/>
          <p:cNvSpPr/>
          <p:nvPr/>
        </p:nvSpPr>
        <p:spPr>
          <a:xfrm>
            <a:off x="457200" y="777240"/>
            <a:ext cx="82296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14400"/>
            <a:ext cx="1554480" cy="91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1463040" cy="457200"/>
          </a:xfrm>
          <a:prstGeom prst="rect">
            <a:avLst/>
          </a:prstGeom>
          <a:noFill/>
        </p:spPr>
        <p:txBody>
          <a:bodyPr wrap="square">
            <a:spAutoFit/>
          </a:bodyPr>
          <a:lstStyle/>
          <a:p>
            <a:pPr algn="l"/>
            <a:r>
              <a:rPr sz="1300" b="1" i="0">
                <a:solidFill>
                  <a:srgbClr val="3B82F6"/>
                </a:solidFill>
              </a:rPr>
              <a:t>Google</a:t>
            </a:r>
          </a:p>
        </p:txBody>
      </p:sp>
      <p:sp>
        <p:nvSpPr>
          <p:cNvPr id="9" name="TextBox 8"/>
          <p:cNvSpPr txBox="1"/>
          <p:nvPr/>
        </p:nvSpPr>
        <p:spPr>
          <a:xfrm>
            <a:off x="548640" y="1645920"/>
            <a:ext cx="1463040" cy="228600"/>
          </a:xfrm>
          <a:prstGeom prst="rect">
            <a:avLst/>
          </a:prstGeom>
          <a:noFill/>
        </p:spPr>
        <p:txBody>
          <a:bodyPr wrap="square">
            <a:spAutoFit/>
          </a:bodyPr>
          <a:lstStyle/>
          <a:p>
            <a:pPr algn="l"/>
            <a:r>
              <a:rPr sz="700" b="1" i="0">
                <a:solidFill>
                  <a:srgbClr val="94A3B8"/>
                </a:solidFill>
              </a:rPr>
              <a:t>SUBSCRIBERS</a:t>
            </a:r>
          </a:p>
        </p:txBody>
      </p:sp>
      <p:sp>
        <p:nvSpPr>
          <p:cNvPr id="10" name="TextBox 9"/>
          <p:cNvSpPr txBox="1"/>
          <p:nvPr/>
        </p:nvSpPr>
        <p:spPr>
          <a:xfrm>
            <a:off x="548640" y="1874519"/>
            <a:ext cx="1463040" cy="320040"/>
          </a:xfrm>
          <a:prstGeom prst="rect">
            <a:avLst/>
          </a:prstGeom>
          <a:noFill/>
        </p:spPr>
        <p:txBody>
          <a:bodyPr wrap="square">
            <a:spAutoFit/>
          </a:bodyPr>
          <a:lstStyle/>
          <a:p>
            <a:pPr algn="l"/>
            <a:r>
              <a:rPr sz="1100" b="1" i="0">
                <a:solidFill>
                  <a:srgbClr val="FFFFFF"/>
                </a:solidFill>
              </a:rPr>
              <a:t>784,000</a:t>
            </a:r>
          </a:p>
        </p:txBody>
      </p:sp>
      <p:sp>
        <p:nvSpPr>
          <p:cNvPr id="11" name="TextBox 10"/>
          <p:cNvSpPr txBox="1"/>
          <p:nvPr/>
        </p:nvSpPr>
        <p:spPr>
          <a:xfrm>
            <a:off x="548640" y="2286000"/>
            <a:ext cx="1463040" cy="228600"/>
          </a:xfrm>
          <a:prstGeom prst="rect">
            <a:avLst/>
          </a:prstGeom>
          <a:noFill/>
        </p:spPr>
        <p:txBody>
          <a:bodyPr wrap="square">
            <a:spAutoFit/>
          </a:bodyPr>
          <a:lstStyle/>
          <a:p>
            <a:pPr algn="l"/>
            <a:r>
              <a:rPr sz="700" b="1" i="0">
                <a:solidFill>
                  <a:srgbClr val="94A3B8"/>
                </a:solidFill>
              </a:rPr>
              <a:t>TOTAL VIDEOS</a:t>
            </a:r>
          </a:p>
        </p:txBody>
      </p:sp>
      <p:sp>
        <p:nvSpPr>
          <p:cNvPr id="12" name="TextBox 11"/>
          <p:cNvSpPr txBox="1"/>
          <p:nvPr/>
        </p:nvSpPr>
        <p:spPr>
          <a:xfrm>
            <a:off x="548640" y="2514600"/>
            <a:ext cx="1463040" cy="320040"/>
          </a:xfrm>
          <a:prstGeom prst="rect">
            <a:avLst/>
          </a:prstGeom>
          <a:noFill/>
        </p:spPr>
        <p:txBody>
          <a:bodyPr wrap="square">
            <a:spAutoFit/>
          </a:bodyPr>
          <a:lstStyle/>
          <a:p>
            <a:pPr algn="l"/>
            <a:r>
              <a:rPr sz="1100" b="1" i="0">
                <a:solidFill>
                  <a:srgbClr val="FFFFFF"/>
                </a:solidFill>
              </a:rPr>
              <a:t>2,035</a:t>
            </a:r>
          </a:p>
        </p:txBody>
      </p:sp>
      <p:sp>
        <p:nvSpPr>
          <p:cNvPr id="13" name="TextBox 12"/>
          <p:cNvSpPr txBox="1"/>
          <p:nvPr/>
        </p:nvSpPr>
        <p:spPr>
          <a:xfrm>
            <a:off x="548640" y="2926080"/>
            <a:ext cx="1463040" cy="228600"/>
          </a:xfrm>
          <a:prstGeom prst="rect">
            <a:avLst/>
          </a:prstGeom>
          <a:noFill/>
        </p:spPr>
        <p:txBody>
          <a:bodyPr wrap="square">
            <a:spAutoFit/>
          </a:bodyPr>
          <a:lstStyle/>
          <a:p>
            <a:pPr algn="l"/>
            <a:r>
              <a:rPr sz="700" b="1" i="0">
                <a:solidFill>
                  <a:srgbClr val="94A3B8"/>
                </a:solidFill>
              </a:rPr>
              <a:t>TOTAL VIEWS</a:t>
            </a:r>
          </a:p>
        </p:txBody>
      </p:sp>
      <p:sp>
        <p:nvSpPr>
          <p:cNvPr id="14" name="TextBox 13"/>
          <p:cNvSpPr txBox="1"/>
          <p:nvPr/>
        </p:nvSpPr>
        <p:spPr>
          <a:xfrm>
            <a:off x="548640" y="3154680"/>
            <a:ext cx="1463040" cy="320040"/>
          </a:xfrm>
          <a:prstGeom prst="rect">
            <a:avLst/>
          </a:prstGeom>
          <a:noFill/>
        </p:spPr>
        <p:txBody>
          <a:bodyPr wrap="square">
            <a:spAutoFit/>
          </a:bodyPr>
          <a:lstStyle/>
          <a:p>
            <a:pPr algn="l"/>
            <a:r>
              <a:rPr sz="1100" b="1" i="0">
                <a:solidFill>
                  <a:srgbClr val="FFFFFF"/>
                </a:solidFill>
              </a:rPr>
              <a:t>71,554,073</a:t>
            </a:r>
          </a:p>
        </p:txBody>
      </p:sp>
      <p:sp>
        <p:nvSpPr>
          <p:cNvPr id="15" name="TextBox 14"/>
          <p:cNvSpPr txBox="1"/>
          <p:nvPr/>
        </p:nvSpPr>
        <p:spPr>
          <a:xfrm>
            <a:off x="548640" y="3566159"/>
            <a:ext cx="1463040" cy="228600"/>
          </a:xfrm>
          <a:prstGeom prst="rect">
            <a:avLst/>
          </a:prstGeom>
          <a:noFill/>
        </p:spPr>
        <p:txBody>
          <a:bodyPr wrap="square">
            <a:spAutoFit/>
          </a:bodyPr>
          <a:lstStyle/>
          <a:p>
            <a:pPr algn="l"/>
            <a:r>
              <a:rPr sz="700" b="1" i="0">
                <a:solidFill>
                  <a:srgbClr val="94A3B8"/>
                </a:solidFill>
              </a:rPr>
              <a:t>UPLOAD FREQ</a:t>
            </a:r>
          </a:p>
        </p:txBody>
      </p:sp>
      <p:sp>
        <p:nvSpPr>
          <p:cNvPr id="16" name="TextBox 15"/>
          <p:cNvSpPr txBox="1"/>
          <p:nvPr/>
        </p:nvSpPr>
        <p:spPr>
          <a:xfrm>
            <a:off x="548640" y="3794759"/>
            <a:ext cx="1463040" cy="320040"/>
          </a:xfrm>
          <a:prstGeom prst="rect">
            <a:avLst/>
          </a:prstGeom>
          <a:noFill/>
        </p:spPr>
        <p:txBody>
          <a:bodyPr wrap="square">
            <a:spAutoFit/>
          </a:bodyPr>
          <a:lstStyle/>
          <a:p>
            <a:pPr algn="l"/>
            <a:r>
              <a:rPr sz="1100" b="1" i="0">
                <a:solidFill>
                  <a:srgbClr val="FFFFFF"/>
                </a:solidFill>
              </a:rPr>
              <a:t>Every 6.4 days (Week</a:t>
            </a:r>
          </a:p>
        </p:txBody>
      </p:sp>
      <p:sp>
        <p:nvSpPr>
          <p:cNvPr id="17" name="TextBox 16"/>
          <p:cNvSpPr txBox="1"/>
          <p:nvPr/>
        </p:nvSpPr>
        <p:spPr>
          <a:xfrm>
            <a:off x="548640" y="4206240"/>
            <a:ext cx="1463040" cy="228600"/>
          </a:xfrm>
          <a:prstGeom prst="rect">
            <a:avLst/>
          </a:prstGeom>
          <a:noFill/>
        </p:spPr>
        <p:txBody>
          <a:bodyPr wrap="square">
            <a:spAutoFit/>
          </a:bodyPr>
          <a:lstStyle/>
          <a:p>
            <a:pPr algn="l"/>
            <a:r>
              <a:rPr sz="700" b="1" i="0">
                <a:solidFill>
                  <a:srgbClr val="94A3B8"/>
                </a:solidFill>
              </a:rPr>
              <a:t>AVG VIEWS</a:t>
            </a:r>
          </a:p>
        </p:txBody>
      </p:sp>
      <p:sp>
        <p:nvSpPr>
          <p:cNvPr id="18" name="TextBox 17"/>
          <p:cNvSpPr txBox="1"/>
          <p:nvPr/>
        </p:nvSpPr>
        <p:spPr>
          <a:xfrm>
            <a:off x="548640" y="4434840"/>
            <a:ext cx="1463040" cy="320040"/>
          </a:xfrm>
          <a:prstGeom prst="rect">
            <a:avLst/>
          </a:prstGeom>
          <a:noFill/>
        </p:spPr>
        <p:txBody>
          <a:bodyPr wrap="square">
            <a:spAutoFit/>
          </a:bodyPr>
          <a:lstStyle/>
          <a:p>
            <a:pPr algn="l"/>
            <a:r>
              <a:rPr sz="1100" b="1" i="0">
                <a:solidFill>
                  <a:srgbClr val="FFFFFF"/>
                </a:solidFill>
              </a:rPr>
              <a:t>5,587</a:t>
            </a:r>
          </a:p>
        </p:txBody>
      </p:sp>
      <p:sp>
        <p:nvSpPr>
          <p:cNvPr id="19" name="TextBox 18"/>
          <p:cNvSpPr txBox="1"/>
          <p:nvPr/>
        </p:nvSpPr>
        <p:spPr>
          <a:xfrm>
            <a:off x="548640" y="4846320"/>
            <a:ext cx="1463040" cy="228600"/>
          </a:xfrm>
          <a:prstGeom prst="rect">
            <a:avLst/>
          </a:prstGeom>
          <a:noFill/>
        </p:spPr>
        <p:txBody>
          <a:bodyPr wrap="square">
            <a:spAutoFit/>
          </a:bodyPr>
          <a:lstStyle/>
          <a:p>
            <a:pPr algn="l"/>
            <a:r>
              <a:rPr sz="700" b="1" i="0">
                <a:solidFill>
                  <a:srgbClr val="94A3B8"/>
                </a:solidFill>
              </a:rPr>
              <a:t>AVG LIKES</a:t>
            </a:r>
          </a:p>
        </p:txBody>
      </p:sp>
      <p:sp>
        <p:nvSpPr>
          <p:cNvPr id="20" name="TextBox 19"/>
          <p:cNvSpPr txBox="1"/>
          <p:nvPr/>
        </p:nvSpPr>
        <p:spPr>
          <a:xfrm>
            <a:off x="548640" y="5074920"/>
            <a:ext cx="1463040" cy="320040"/>
          </a:xfrm>
          <a:prstGeom prst="rect">
            <a:avLst/>
          </a:prstGeom>
          <a:noFill/>
        </p:spPr>
        <p:txBody>
          <a:bodyPr wrap="square">
            <a:spAutoFit/>
          </a:bodyPr>
          <a:lstStyle/>
          <a:p>
            <a:pPr algn="l"/>
            <a:r>
              <a:rPr sz="1100" b="1" i="0">
                <a:solidFill>
                  <a:srgbClr val="FFFFFF"/>
                </a:solidFill>
              </a:rPr>
              <a:t>169</a:t>
            </a:r>
          </a:p>
        </p:txBody>
      </p:sp>
      <p:sp>
        <p:nvSpPr>
          <p:cNvPr id="21" name="TextBox 20"/>
          <p:cNvSpPr txBox="1"/>
          <p:nvPr/>
        </p:nvSpPr>
        <p:spPr>
          <a:xfrm>
            <a:off x="548640" y="5486399"/>
            <a:ext cx="1463040" cy="228600"/>
          </a:xfrm>
          <a:prstGeom prst="rect">
            <a:avLst/>
          </a:prstGeom>
          <a:noFill/>
        </p:spPr>
        <p:txBody>
          <a:bodyPr wrap="square">
            <a:spAutoFit/>
          </a:bodyPr>
          <a:lstStyle/>
          <a:p>
            <a:pPr algn="l"/>
            <a:r>
              <a:rPr sz="700" b="1" i="0">
                <a:solidFill>
                  <a:srgbClr val="94A3B8"/>
                </a:solidFill>
              </a:rPr>
              <a:t>AVG COMMENTS</a:t>
            </a:r>
          </a:p>
        </p:txBody>
      </p:sp>
      <p:sp>
        <p:nvSpPr>
          <p:cNvPr id="22" name="TextBox 21"/>
          <p:cNvSpPr txBox="1"/>
          <p:nvPr/>
        </p:nvSpPr>
        <p:spPr>
          <a:xfrm>
            <a:off x="548640" y="5714999"/>
            <a:ext cx="1463040" cy="320040"/>
          </a:xfrm>
          <a:prstGeom prst="rect">
            <a:avLst/>
          </a:prstGeom>
          <a:noFill/>
        </p:spPr>
        <p:txBody>
          <a:bodyPr wrap="square">
            <a:spAutoFit/>
          </a:bodyPr>
          <a:lstStyle/>
          <a:p>
            <a:pPr algn="l"/>
            <a:r>
              <a:rPr sz="1100" b="1" i="0">
                <a:solidFill>
                  <a:srgbClr val="FFFFFF"/>
                </a:solidFill>
              </a:rPr>
              <a:t>10</a:t>
            </a:r>
          </a:p>
        </p:txBody>
      </p:sp>
      <p:sp>
        <p:nvSpPr>
          <p:cNvPr id="23" name="Rectangle 22"/>
          <p:cNvSpPr/>
          <p:nvPr/>
        </p:nvSpPr>
        <p:spPr>
          <a:xfrm>
            <a:off x="210312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03120" y="914400"/>
            <a:ext cx="155448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1051560"/>
            <a:ext cx="1463040" cy="457200"/>
          </a:xfrm>
          <a:prstGeom prst="rect">
            <a:avLst/>
          </a:prstGeom>
          <a:noFill/>
        </p:spPr>
        <p:txBody>
          <a:bodyPr wrap="square">
            <a:spAutoFit/>
          </a:bodyPr>
          <a:lstStyle/>
          <a:p>
            <a:pPr algn="l"/>
            <a:r>
              <a:rPr sz="1300" b="1" i="0">
                <a:solidFill>
                  <a:srgbClr val="10B981"/>
                </a:solidFill>
              </a:rPr>
              <a:t>Apple</a:t>
            </a:r>
          </a:p>
        </p:txBody>
      </p:sp>
      <p:sp>
        <p:nvSpPr>
          <p:cNvPr id="26" name="TextBox 25"/>
          <p:cNvSpPr txBox="1"/>
          <p:nvPr/>
        </p:nvSpPr>
        <p:spPr>
          <a:xfrm>
            <a:off x="2194560" y="1645920"/>
            <a:ext cx="1463040" cy="228600"/>
          </a:xfrm>
          <a:prstGeom prst="rect">
            <a:avLst/>
          </a:prstGeom>
          <a:noFill/>
        </p:spPr>
        <p:txBody>
          <a:bodyPr wrap="square">
            <a:spAutoFit/>
          </a:bodyPr>
          <a:lstStyle/>
          <a:p>
            <a:pPr algn="l"/>
            <a:r>
              <a:rPr sz="700" b="1" i="0">
                <a:solidFill>
                  <a:srgbClr val="94A3B8"/>
                </a:solidFill>
              </a:rPr>
              <a:t>SUBSCRIBERS</a:t>
            </a:r>
          </a:p>
        </p:txBody>
      </p:sp>
      <p:sp>
        <p:nvSpPr>
          <p:cNvPr id="27" name="TextBox 26"/>
          <p:cNvSpPr txBox="1"/>
          <p:nvPr/>
        </p:nvSpPr>
        <p:spPr>
          <a:xfrm>
            <a:off x="2194560" y="1874519"/>
            <a:ext cx="1463040" cy="320040"/>
          </a:xfrm>
          <a:prstGeom prst="rect">
            <a:avLst/>
          </a:prstGeom>
          <a:noFill/>
        </p:spPr>
        <p:txBody>
          <a:bodyPr wrap="square">
            <a:spAutoFit/>
          </a:bodyPr>
          <a:lstStyle/>
          <a:p>
            <a:pPr algn="l"/>
            <a:r>
              <a:rPr sz="1100" b="1" i="0">
                <a:solidFill>
                  <a:srgbClr val="FFFFFF"/>
                </a:solidFill>
              </a:rPr>
              <a:t>20,600,000</a:t>
            </a:r>
          </a:p>
        </p:txBody>
      </p:sp>
      <p:sp>
        <p:nvSpPr>
          <p:cNvPr id="28" name="TextBox 27"/>
          <p:cNvSpPr txBox="1"/>
          <p:nvPr/>
        </p:nvSpPr>
        <p:spPr>
          <a:xfrm>
            <a:off x="2194560" y="2286000"/>
            <a:ext cx="1463040" cy="228600"/>
          </a:xfrm>
          <a:prstGeom prst="rect">
            <a:avLst/>
          </a:prstGeom>
          <a:noFill/>
        </p:spPr>
        <p:txBody>
          <a:bodyPr wrap="square">
            <a:spAutoFit/>
          </a:bodyPr>
          <a:lstStyle/>
          <a:p>
            <a:pPr algn="l"/>
            <a:r>
              <a:rPr sz="700" b="1" i="0">
                <a:solidFill>
                  <a:srgbClr val="94A3B8"/>
                </a:solidFill>
              </a:rPr>
              <a:t>TOTAL VIDEOS</a:t>
            </a:r>
          </a:p>
        </p:txBody>
      </p:sp>
      <p:sp>
        <p:nvSpPr>
          <p:cNvPr id="29" name="TextBox 28"/>
          <p:cNvSpPr txBox="1"/>
          <p:nvPr/>
        </p:nvSpPr>
        <p:spPr>
          <a:xfrm>
            <a:off x="2194560" y="2514600"/>
            <a:ext cx="1463040" cy="320040"/>
          </a:xfrm>
          <a:prstGeom prst="rect">
            <a:avLst/>
          </a:prstGeom>
          <a:noFill/>
        </p:spPr>
        <p:txBody>
          <a:bodyPr wrap="square">
            <a:spAutoFit/>
          </a:bodyPr>
          <a:lstStyle/>
          <a:p>
            <a:pPr algn="l"/>
            <a:r>
              <a:rPr sz="1100" b="1" i="0">
                <a:solidFill>
                  <a:srgbClr val="FFFFFF"/>
                </a:solidFill>
              </a:rPr>
              <a:t>178</a:t>
            </a:r>
          </a:p>
        </p:txBody>
      </p:sp>
      <p:sp>
        <p:nvSpPr>
          <p:cNvPr id="30" name="TextBox 29"/>
          <p:cNvSpPr txBox="1"/>
          <p:nvPr/>
        </p:nvSpPr>
        <p:spPr>
          <a:xfrm>
            <a:off x="2194560" y="2926080"/>
            <a:ext cx="1463040" cy="228600"/>
          </a:xfrm>
          <a:prstGeom prst="rect">
            <a:avLst/>
          </a:prstGeom>
          <a:noFill/>
        </p:spPr>
        <p:txBody>
          <a:bodyPr wrap="square">
            <a:spAutoFit/>
          </a:bodyPr>
          <a:lstStyle/>
          <a:p>
            <a:pPr algn="l"/>
            <a:r>
              <a:rPr sz="700" b="1" i="0">
                <a:solidFill>
                  <a:srgbClr val="94A3B8"/>
                </a:solidFill>
              </a:rPr>
              <a:t>TOTAL VIEWS</a:t>
            </a:r>
          </a:p>
        </p:txBody>
      </p:sp>
      <p:sp>
        <p:nvSpPr>
          <p:cNvPr id="31" name="TextBox 30"/>
          <p:cNvSpPr txBox="1"/>
          <p:nvPr/>
        </p:nvSpPr>
        <p:spPr>
          <a:xfrm>
            <a:off x="2194560" y="3154680"/>
            <a:ext cx="1463040" cy="320040"/>
          </a:xfrm>
          <a:prstGeom prst="rect">
            <a:avLst/>
          </a:prstGeom>
          <a:noFill/>
        </p:spPr>
        <p:txBody>
          <a:bodyPr wrap="square">
            <a:spAutoFit/>
          </a:bodyPr>
          <a:lstStyle/>
          <a:p>
            <a:pPr algn="l"/>
            <a:r>
              <a:rPr sz="1100" b="1" i="0">
                <a:solidFill>
                  <a:srgbClr val="FFFFFF"/>
                </a:solidFill>
              </a:rPr>
              <a:t>1,028,939,633</a:t>
            </a:r>
          </a:p>
        </p:txBody>
      </p:sp>
      <p:sp>
        <p:nvSpPr>
          <p:cNvPr id="32" name="TextBox 31"/>
          <p:cNvSpPr txBox="1"/>
          <p:nvPr/>
        </p:nvSpPr>
        <p:spPr>
          <a:xfrm>
            <a:off x="2194560" y="3566159"/>
            <a:ext cx="1463040" cy="228600"/>
          </a:xfrm>
          <a:prstGeom prst="rect">
            <a:avLst/>
          </a:prstGeom>
          <a:noFill/>
        </p:spPr>
        <p:txBody>
          <a:bodyPr wrap="square">
            <a:spAutoFit/>
          </a:bodyPr>
          <a:lstStyle/>
          <a:p>
            <a:pPr algn="l"/>
            <a:r>
              <a:rPr sz="700" b="1" i="0">
                <a:solidFill>
                  <a:srgbClr val="94A3B8"/>
                </a:solidFill>
              </a:rPr>
              <a:t>UPLOAD FREQ</a:t>
            </a:r>
          </a:p>
        </p:txBody>
      </p:sp>
      <p:sp>
        <p:nvSpPr>
          <p:cNvPr id="33" name="TextBox 32"/>
          <p:cNvSpPr txBox="1"/>
          <p:nvPr/>
        </p:nvSpPr>
        <p:spPr>
          <a:xfrm>
            <a:off x="2194560" y="3794759"/>
            <a:ext cx="1463040" cy="320040"/>
          </a:xfrm>
          <a:prstGeom prst="rect">
            <a:avLst/>
          </a:prstGeom>
          <a:noFill/>
        </p:spPr>
        <p:txBody>
          <a:bodyPr wrap="square">
            <a:spAutoFit/>
          </a:bodyPr>
          <a:lstStyle/>
          <a:p>
            <a:pPr algn="l"/>
            <a:r>
              <a:rPr sz="1100" b="1" i="0">
                <a:solidFill>
                  <a:srgbClr val="FFFFFF"/>
                </a:solidFill>
              </a:rPr>
              <a:t>Every 1.6 days (Very</a:t>
            </a:r>
          </a:p>
        </p:txBody>
      </p:sp>
      <p:sp>
        <p:nvSpPr>
          <p:cNvPr id="34" name="TextBox 33"/>
          <p:cNvSpPr txBox="1"/>
          <p:nvPr/>
        </p:nvSpPr>
        <p:spPr>
          <a:xfrm>
            <a:off x="2194560" y="4206240"/>
            <a:ext cx="1463040" cy="228600"/>
          </a:xfrm>
          <a:prstGeom prst="rect">
            <a:avLst/>
          </a:prstGeom>
          <a:noFill/>
        </p:spPr>
        <p:txBody>
          <a:bodyPr wrap="square">
            <a:spAutoFit/>
          </a:bodyPr>
          <a:lstStyle/>
          <a:p>
            <a:pPr algn="l"/>
            <a:r>
              <a:rPr sz="700" b="1" i="0">
                <a:solidFill>
                  <a:srgbClr val="94A3B8"/>
                </a:solidFill>
              </a:rPr>
              <a:t>AVG VIEWS</a:t>
            </a:r>
          </a:p>
        </p:txBody>
      </p:sp>
      <p:sp>
        <p:nvSpPr>
          <p:cNvPr id="35" name="TextBox 34"/>
          <p:cNvSpPr txBox="1"/>
          <p:nvPr/>
        </p:nvSpPr>
        <p:spPr>
          <a:xfrm>
            <a:off x="2194560" y="4434840"/>
            <a:ext cx="1463040" cy="320040"/>
          </a:xfrm>
          <a:prstGeom prst="rect">
            <a:avLst/>
          </a:prstGeom>
          <a:noFill/>
        </p:spPr>
        <p:txBody>
          <a:bodyPr wrap="square">
            <a:spAutoFit/>
          </a:bodyPr>
          <a:lstStyle/>
          <a:p>
            <a:pPr algn="l"/>
            <a:r>
              <a:rPr sz="1100" b="1" i="0">
                <a:solidFill>
                  <a:srgbClr val="FFFFFF"/>
                </a:solidFill>
              </a:rPr>
              <a:t>391,494</a:t>
            </a:r>
          </a:p>
        </p:txBody>
      </p:sp>
      <p:sp>
        <p:nvSpPr>
          <p:cNvPr id="36" name="TextBox 35"/>
          <p:cNvSpPr txBox="1"/>
          <p:nvPr/>
        </p:nvSpPr>
        <p:spPr>
          <a:xfrm>
            <a:off x="2194560" y="4846320"/>
            <a:ext cx="1463040" cy="228600"/>
          </a:xfrm>
          <a:prstGeom prst="rect">
            <a:avLst/>
          </a:prstGeom>
          <a:noFill/>
        </p:spPr>
        <p:txBody>
          <a:bodyPr wrap="square">
            <a:spAutoFit/>
          </a:bodyPr>
          <a:lstStyle/>
          <a:p>
            <a:pPr algn="l"/>
            <a:r>
              <a:rPr sz="700" b="1" i="0">
                <a:solidFill>
                  <a:srgbClr val="94A3B8"/>
                </a:solidFill>
              </a:rPr>
              <a:t>AVG LIKES</a:t>
            </a:r>
          </a:p>
        </p:txBody>
      </p:sp>
      <p:sp>
        <p:nvSpPr>
          <p:cNvPr id="37" name="TextBox 36"/>
          <p:cNvSpPr txBox="1"/>
          <p:nvPr/>
        </p:nvSpPr>
        <p:spPr>
          <a:xfrm>
            <a:off x="2194560" y="5074920"/>
            <a:ext cx="1463040" cy="320040"/>
          </a:xfrm>
          <a:prstGeom prst="rect">
            <a:avLst/>
          </a:prstGeom>
          <a:noFill/>
        </p:spPr>
        <p:txBody>
          <a:bodyPr wrap="square">
            <a:spAutoFit/>
          </a:bodyPr>
          <a:lstStyle/>
          <a:p>
            <a:pPr algn="l"/>
            <a:r>
              <a:rPr sz="1100" b="1" i="0">
                <a:solidFill>
                  <a:srgbClr val="FFFFFF"/>
                </a:solidFill>
              </a:rPr>
              <a:t>3,283</a:t>
            </a:r>
          </a:p>
        </p:txBody>
      </p:sp>
      <p:sp>
        <p:nvSpPr>
          <p:cNvPr id="38" name="TextBox 37"/>
          <p:cNvSpPr txBox="1"/>
          <p:nvPr/>
        </p:nvSpPr>
        <p:spPr>
          <a:xfrm>
            <a:off x="2194560" y="5486399"/>
            <a:ext cx="1463040" cy="228600"/>
          </a:xfrm>
          <a:prstGeom prst="rect">
            <a:avLst/>
          </a:prstGeom>
          <a:noFill/>
        </p:spPr>
        <p:txBody>
          <a:bodyPr wrap="square">
            <a:spAutoFit/>
          </a:bodyPr>
          <a:lstStyle/>
          <a:p>
            <a:pPr algn="l"/>
            <a:r>
              <a:rPr sz="700" b="1" i="0">
                <a:solidFill>
                  <a:srgbClr val="94A3B8"/>
                </a:solidFill>
              </a:rPr>
              <a:t>AVG COMMENTS</a:t>
            </a:r>
          </a:p>
        </p:txBody>
      </p:sp>
      <p:sp>
        <p:nvSpPr>
          <p:cNvPr id="39" name="TextBox 38"/>
          <p:cNvSpPr txBox="1"/>
          <p:nvPr/>
        </p:nvSpPr>
        <p:spPr>
          <a:xfrm>
            <a:off x="2194560" y="5714999"/>
            <a:ext cx="1463040" cy="320040"/>
          </a:xfrm>
          <a:prstGeom prst="rect">
            <a:avLst/>
          </a:prstGeom>
          <a:noFill/>
        </p:spPr>
        <p:txBody>
          <a:bodyPr wrap="square">
            <a:spAutoFit/>
          </a:bodyPr>
          <a:lstStyle/>
          <a:p>
            <a:pPr algn="l"/>
            <a:r>
              <a:rPr sz="1100" b="1" i="0">
                <a:solidFill>
                  <a:srgbClr val="FFFFFF"/>
                </a:solidFill>
              </a:rPr>
              <a:t>0</a:t>
            </a:r>
          </a:p>
        </p:txBody>
      </p:sp>
      <p:sp>
        <p:nvSpPr>
          <p:cNvPr id="40" name="Rectangle 39"/>
          <p:cNvSpPr/>
          <p:nvPr/>
        </p:nvSpPr>
        <p:spPr>
          <a:xfrm>
            <a:off x="3749039"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749039" y="914400"/>
            <a:ext cx="155448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40479" y="1051560"/>
            <a:ext cx="1463040" cy="457200"/>
          </a:xfrm>
          <a:prstGeom prst="rect">
            <a:avLst/>
          </a:prstGeom>
          <a:noFill/>
        </p:spPr>
        <p:txBody>
          <a:bodyPr wrap="square">
            <a:spAutoFit/>
          </a:bodyPr>
          <a:lstStyle/>
          <a:p>
            <a:pPr algn="l"/>
            <a:r>
              <a:rPr sz="1300" b="1" i="0">
                <a:solidFill>
                  <a:srgbClr val="F59E0B"/>
                </a:solidFill>
              </a:rPr>
              <a:t>Microsoft</a:t>
            </a:r>
          </a:p>
        </p:txBody>
      </p:sp>
      <p:sp>
        <p:nvSpPr>
          <p:cNvPr id="43" name="TextBox 42"/>
          <p:cNvSpPr txBox="1"/>
          <p:nvPr/>
        </p:nvSpPr>
        <p:spPr>
          <a:xfrm>
            <a:off x="3840479" y="1645920"/>
            <a:ext cx="1463040" cy="228600"/>
          </a:xfrm>
          <a:prstGeom prst="rect">
            <a:avLst/>
          </a:prstGeom>
          <a:noFill/>
        </p:spPr>
        <p:txBody>
          <a:bodyPr wrap="square">
            <a:spAutoFit/>
          </a:bodyPr>
          <a:lstStyle/>
          <a:p>
            <a:pPr algn="l"/>
            <a:r>
              <a:rPr sz="700" b="1" i="0">
                <a:solidFill>
                  <a:srgbClr val="94A3B8"/>
                </a:solidFill>
              </a:rPr>
              <a:t>SUBSCRIBERS</a:t>
            </a:r>
          </a:p>
        </p:txBody>
      </p:sp>
      <p:sp>
        <p:nvSpPr>
          <p:cNvPr id="44" name="TextBox 43"/>
          <p:cNvSpPr txBox="1"/>
          <p:nvPr/>
        </p:nvSpPr>
        <p:spPr>
          <a:xfrm>
            <a:off x="3840479" y="1874519"/>
            <a:ext cx="1463040" cy="320040"/>
          </a:xfrm>
          <a:prstGeom prst="rect">
            <a:avLst/>
          </a:prstGeom>
          <a:noFill/>
        </p:spPr>
        <p:txBody>
          <a:bodyPr wrap="square">
            <a:spAutoFit/>
          </a:bodyPr>
          <a:lstStyle/>
          <a:p>
            <a:pPr algn="l"/>
            <a:r>
              <a:rPr sz="1100" b="1" i="0">
                <a:solidFill>
                  <a:srgbClr val="FFFFFF"/>
                </a:solidFill>
              </a:rPr>
              <a:t>2,170,000</a:t>
            </a:r>
          </a:p>
        </p:txBody>
      </p:sp>
      <p:sp>
        <p:nvSpPr>
          <p:cNvPr id="45" name="TextBox 44"/>
          <p:cNvSpPr txBox="1"/>
          <p:nvPr/>
        </p:nvSpPr>
        <p:spPr>
          <a:xfrm>
            <a:off x="3840479" y="2286000"/>
            <a:ext cx="1463040" cy="228600"/>
          </a:xfrm>
          <a:prstGeom prst="rect">
            <a:avLst/>
          </a:prstGeom>
          <a:noFill/>
        </p:spPr>
        <p:txBody>
          <a:bodyPr wrap="square">
            <a:spAutoFit/>
          </a:bodyPr>
          <a:lstStyle/>
          <a:p>
            <a:pPr algn="l"/>
            <a:r>
              <a:rPr sz="700" b="1" i="0">
                <a:solidFill>
                  <a:srgbClr val="94A3B8"/>
                </a:solidFill>
              </a:rPr>
              <a:t>TOTAL VIDEOS</a:t>
            </a:r>
          </a:p>
        </p:txBody>
      </p:sp>
      <p:sp>
        <p:nvSpPr>
          <p:cNvPr id="46" name="TextBox 45"/>
          <p:cNvSpPr txBox="1"/>
          <p:nvPr/>
        </p:nvSpPr>
        <p:spPr>
          <a:xfrm>
            <a:off x="3840479" y="2514600"/>
            <a:ext cx="1463040" cy="320040"/>
          </a:xfrm>
          <a:prstGeom prst="rect">
            <a:avLst/>
          </a:prstGeom>
          <a:noFill/>
        </p:spPr>
        <p:txBody>
          <a:bodyPr wrap="square">
            <a:spAutoFit/>
          </a:bodyPr>
          <a:lstStyle/>
          <a:p>
            <a:pPr algn="l"/>
            <a:r>
              <a:rPr sz="1100" b="1" i="0">
                <a:solidFill>
                  <a:srgbClr val="FFFFFF"/>
                </a:solidFill>
              </a:rPr>
              <a:t>735</a:t>
            </a:r>
          </a:p>
        </p:txBody>
      </p:sp>
      <p:sp>
        <p:nvSpPr>
          <p:cNvPr id="47" name="TextBox 46"/>
          <p:cNvSpPr txBox="1"/>
          <p:nvPr/>
        </p:nvSpPr>
        <p:spPr>
          <a:xfrm>
            <a:off x="3840479" y="2926080"/>
            <a:ext cx="1463040" cy="228600"/>
          </a:xfrm>
          <a:prstGeom prst="rect">
            <a:avLst/>
          </a:prstGeom>
          <a:noFill/>
        </p:spPr>
        <p:txBody>
          <a:bodyPr wrap="square">
            <a:spAutoFit/>
          </a:bodyPr>
          <a:lstStyle/>
          <a:p>
            <a:pPr algn="l"/>
            <a:r>
              <a:rPr sz="700" b="1" i="0">
                <a:solidFill>
                  <a:srgbClr val="94A3B8"/>
                </a:solidFill>
              </a:rPr>
              <a:t>TOTAL VIEWS</a:t>
            </a:r>
          </a:p>
        </p:txBody>
      </p:sp>
      <p:sp>
        <p:nvSpPr>
          <p:cNvPr id="48" name="TextBox 47"/>
          <p:cNvSpPr txBox="1"/>
          <p:nvPr/>
        </p:nvSpPr>
        <p:spPr>
          <a:xfrm>
            <a:off x="3840479" y="3154680"/>
            <a:ext cx="1463040" cy="320040"/>
          </a:xfrm>
          <a:prstGeom prst="rect">
            <a:avLst/>
          </a:prstGeom>
          <a:noFill/>
        </p:spPr>
        <p:txBody>
          <a:bodyPr wrap="square">
            <a:spAutoFit/>
          </a:bodyPr>
          <a:lstStyle/>
          <a:p>
            <a:pPr algn="l"/>
            <a:r>
              <a:rPr sz="1100" b="1" i="0">
                <a:solidFill>
                  <a:srgbClr val="FFFFFF"/>
                </a:solidFill>
              </a:rPr>
              <a:t>188,037,163</a:t>
            </a:r>
          </a:p>
        </p:txBody>
      </p:sp>
      <p:sp>
        <p:nvSpPr>
          <p:cNvPr id="49" name="TextBox 48"/>
          <p:cNvSpPr txBox="1"/>
          <p:nvPr/>
        </p:nvSpPr>
        <p:spPr>
          <a:xfrm>
            <a:off x="3840479" y="3566159"/>
            <a:ext cx="1463040" cy="228600"/>
          </a:xfrm>
          <a:prstGeom prst="rect">
            <a:avLst/>
          </a:prstGeom>
          <a:noFill/>
        </p:spPr>
        <p:txBody>
          <a:bodyPr wrap="square">
            <a:spAutoFit/>
          </a:bodyPr>
          <a:lstStyle/>
          <a:p>
            <a:pPr algn="l"/>
            <a:r>
              <a:rPr sz="700" b="1" i="0">
                <a:solidFill>
                  <a:srgbClr val="94A3B8"/>
                </a:solidFill>
              </a:rPr>
              <a:t>UPLOAD FREQ</a:t>
            </a:r>
          </a:p>
        </p:txBody>
      </p:sp>
      <p:sp>
        <p:nvSpPr>
          <p:cNvPr id="50" name="TextBox 49"/>
          <p:cNvSpPr txBox="1"/>
          <p:nvPr/>
        </p:nvSpPr>
        <p:spPr>
          <a:xfrm>
            <a:off x="3840479" y="3794759"/>
            <a:ext cx="1463040" cy="320040"/>
          </a:xfrm>
          <a:prstGeom prst="rect">
            <a:avLst/>
          </a:prstGeom>
          <a:noFill/>
        </p:spPr>
        <p:txBody>
          <a:bodyPr wrap="square">
            <a:spAutoFit/>
          </a:bodyPr>
          <a:lstStyle/>
          <a:p>
            <a:pPr algn="l"/>
            <a:r>
              <a:rPr sz="1100" b="1" i="0">
                <a:solidFill>
                  <a:srgbClr val="FFFFFF"/>
                </a:solidFill>
              </a:rPr>
              <a:t>Every 3.2 days (Week</a:t>
            </a:r>
          </a:p>
        </p:txBody>
      </p:sp>
      <p:sp>
        <p:nvSpPr>
          <p:cNvPr id="51" name="TextBox 50"/>
          <p:cNvSpPr txBox="1"/>
          <p:nvPr/>
        </p:nvSpPr>
        <p:spPr>
          <a:xfrm>
            <a:off x="3840479" y="4206240"/>
            <a:ext cx="1463040" cy="228600"/>
          </a:xfrm>
          <a:prstGeom prst="rect">
            <a:avLst/>
          </a:prstGeom>
          <a:noFill/>
        </p:spPr>
        <p:txBody>
          <a:bodyPr wrap="square">
            <a:spAutoFit/>
          </a:bodyPr>
          <a:lstStyle/>
          <a:p>
            <a:pPr algn="l"/>
            <a:r>
              <a:rPr sz="700" b="1" i="0">
                <a:solidFill>
                  <a:srgbClr val="94A3B8"/>
                </a:solidFill>
              </a:rPr>
              <a:t>AVG VIEWS</a:t>
            </a:r>
          </a:p>
        </p:txBody>
      </p:sp>
      <p:sp>
        <p:nvSpPr>
          <p:cNvPr id="52" name="TextBox 51"/>
          <p:cNvSpPr txBox="1"/>
          <p:nvPr/>
        </p:nvSpPr>
        <p:spPr>
          <a:xfrm>
            <a:off x="3840479" y="4434840"/>
            <a:ext cx="1463040" cy="320040"/>
          </a:xfrm>
          <a:prstGeom prst="rect">
            <a:avLst/>
          </a:prstGeom>
          <a:noFill/>
        </p:spPr>
        <p:txBody>
          <a:bodyPr wrap="square">
            <a:spAutoFit/>
          </a:bodyPr>
          <a:lstStyle/>
          <a:p>
            <a:pPr algn="l"/>
            <a:r>
              <a:rPr sz="1100" b="1" i="0">
                <a:solidFill>
                  <a:srgbClr val="FFFFFF"/>
                </a:solidFill>
              </a:rPr>
              <a:t>6,583</a:t>
            </a:r>
          </a:p>
        </p:txBody>
      </p:sp>
      <p:sp>
        <p:nvSpPr>
          <p:cNvPr id="53" name="TextBox 52"/>
          <p:cNvSpPr txBox="1"/>
          <p:nvPr/>
        </p:nvSpPr>
        <p:spPr>
          <a:xfrm>
            <a:off x="3840479" y="4846320"/>
            <a:ext cx="1463040" cy="228600"/>
          </a:xfrm>
          <a:prstGeom prst="rect">
            <a:avLst/>
          </a:prstGeom>
          <a:noFill/>
        </p:spPr>
        <p:txBody>
          <a:bodyPr wrap="square">
            <a:spAutoFit/>
          </a:bodyPr>
          <a:lstStyle/>
          <a:p>
            <a:pPr algn="l"/>
            <a:r>
              <a:rPr sz="700" b="1" i="0">
                <a:solidFill>
                  <a:srgbClr val="94A3B8"/>
                </a:solidFill>
              </a:rPr>
              <a:t>AVG LIKES</a:t>
            </a:r>
          </a:p>
        </p:txBody>
      </p:sp>
      <p:sp>
        <p:nvSpPr>
          <p:cNvPr id="54" name="TextBox 53"/>
          <p:cNvSpPr txBox="1"/>
          <p:nvPr/>
        </p:nvSpPr>
        <p:spPr>
          <a:xfrm>
            <a:off x="3840479" y="5074920"/>
            <a:ext cx="1463040" cy="320040"/>
          </a:xfrm>
          <a:prstGeom prst="rect">
            <a:avLst/>
          </a:prstGeom>
          <a:noFill/>
        </p:spPr>
        <p:txBody>
          <a:bodyPr wrap="square">
            <a:spAutoFit/>
          </a:bodyPr>
          <a:lstStyle/>
          <a:p>
            <a:pPr algn="l"/>
            <a:r>
              <a:rPr sz="1100" b="1" i="0">
                <a:solidFill>
                  <a:srgbClr val="FFFFFF"/>
                </a:solidFill>
              </a:rPr>
              <a:t>242</a:t>
            </a:r>
          </a:p>
        </p:txBody>
      </p:sp>
      <p:sp>
        <p:nvSpPr>
          <p:cNvPr id="55" name="TextBox 54"/>
          <p:cNvSpPr txBox="1"/>
          <p:nvPr/>
        </p:nvSpPr>
        <p:spPr>
          <a:xfrm>
            <a:off x="3840479" y="5486399"/>
            <a:ext cx="1463040" cy="228600"/>
          </a:xfrm>
          <a:prstGeom prst="rect">
            <a:avLst/>
          </a:prstGeom>
          <a:noFill/>
        </p:spPr>
        <p:txBody>
          <a:bodyPr wrap="square">
            <a:spAutoFit/>
          </a:bodyPr>
          <a:lstStyle/>
          <a:p>
            <a:pPr algn="l"/>
            <a:r>
              <a:rPr sz="700" b="1" i="0">
                <a:solidFill>
                  <a:srgbClr val="94A3B8"/>
                </a:solidFill>
              </a:rPr>
              <a:t>AVG COMMENTS</a:t>
            </a:r>
          </a:p>
        </p:txBody>
      </p:sp>
      <p:sp>
        <p:nvSpPr>
          <p:cNvPr id="56" name="TextBox 55"/>
          <p:cNvSpPr txBox="1"/>
          <p:nvPr/>
        </p:nvSpPr>
        <p:spPr>
          <a:xfrm>
            <a:off x="3840479" y="5714999"/>
            <a:ext cx="1463040" cy="320040"/>
          </a:xfrm>
          <a:prstGeom prst="rect">
            <a:avLst/>
          </a:prstGeom>
          <a:noFill/>
        </p:spPr>
        <p:txBody>
          <a:bodyPr wrap="square">
            <a:spAutoFit/>
          </a:bodyPr>
          <a:lstStyle/>
          <a:p>
            <a:pPr algn="l"/>
            <a:r>
              <a:rPr sz="1100" b="1" i="0">
                <a:solidFill>
                  <a:srgbClr val="FFFFFF"/>
                </a:solidFill>
              </a:rPr>
              <a:t>35</a:t>
            </a:r>
          </a:p>
        </p:txBody>
      </p:sp>
      <p:sp>
        <p:nvSpPr>
          <p:cNvPr id="57" name="Rectangle 56"/>
          <p:cNvSpPr/>
          <p:nvPr/>
        </p:nvSpPr>
        <p:spPr>
          <a:xfrm>
            <a:off x="539496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394960" y="914400"/>
            <a:ext cx="1554480"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0" y="1051560"/>
            <a:ext cx="1463040" cy="457200"/>
          </a:xfrm>
          <a:prstGeom prst="rect">
            <a:avLst/>
          </a:prstGeom>
          <a:noFill/>
        </p:spPr>
        <p:txBody>
          <a:bodyPr wrap="square">
            <a:spAutoFit/>
          </a:bodyPr>
          <a:lstStyle/>
          <a:p>
            <a:pPr algn="l"/>
            <a:r>
              <a:rPr sz="1300" b="1" i="0">
                <a:solidFill>
                  <a:srgbClr val="EF4444"/>
                </a:solidFill>
              </a:rPr>
              <a:t>Meta</a:t>
            </a:r>
          </a:p>
        </p:txBody>
      </p:sp>
      <p:sp>
        <p:nvSpPr>
          <p:cNvPr id="60" name="TextBox 59"/>
          <p:cNvSpPr txBox="1"/>
          <p:nvPr/>
        </p:nvSpPr>
        <p:spPr>
          <a:xfrm>
            <a:off x="5486400" y="1645920"/>
            <a:ext cx="1463040" cy="228600"/>
          </a:xfrm>
          <a:prstGeom prst="rect">
            <a:avLst/>
          </a:prstGeom>
          <a:noFill/>
        </p:spPr>
        <p:txBody>
          <a:bodyPr wrap="square">
            <a:spAutoFit/>
          </a:bodyPr>
          <a:lstStyle/>
          <a:p>
            <a:pPr algn="l"/>
            <a:r>
              <a:rPr sz="700" b="1" i="0">
                <a:solidFill>
                  <a:srgbClr val="94A3B8"/>
                </a:solidFill>
              </a:rPr>
              <a:t>SUBSCRIBERS</a:t>
            </a:r>
          </a:p>
        </p:txBody>
      </p:sp>
      <p:sp>
        <p:nvSpPr>
          <p:cNvPr id="61" name="TextBox 60"/>
          <p:cNvSpPr txBox="1"/>
          <p:nvPr/>
        </p:nvSpPr>
        <p:spPr>
          <a:xfrm>
            <a:off x="5486400" y="1874519"/>
            <a:ext cx="1463040" cy="320040"/>
          </a:xfrm>
          <a:prstGeom prst="rect">
            <a:avLst/>
          </a:prstGeom>
          <a:noFill/>
        </p:spPr>
        <p:txBody>
          <a:bodyPr wrap="square">
            <a:spAutoFit/>
          </a:bodyPr>
          <a:lstStyle/>
          <a:p>
            <a:pPr algn="l"/>
            <a:r>
              <a:rPr sz="1100" b="1" i="0">
                <a:solidFill>
                  <a:srgbClr val="FFFFFF"/>
                </a:solidFill>
              </a:rPr>
              <a:t>27,000</a:t>
            </a:r>
          </a:p>
        </p:txBody>
      </p:sp>
      <p:sp>
        <p:nvSpPr>
          <p:cNvPr id="62" name="TextBox 61"/>
          <p:cNvSpPr txBox="1"/>
          <p:nvPr/>
        </p:nvSpPr>
        <p:spPr>
          <a:xfrm>
            <a:off x="5486400" y="2286000"/>
            <a:ext cx="1463040" cy="228600"/>
          </a:xfrm>
          <a:prstGeom prst="rect">
            <a:avLst/>
          </a:prstGeom>
          <a:noFill/>
        </p:spPr>
        <p:txBody>
          <a:bodyPr wrap="square">
            <a:spAutoFit/>
          </a:bodyPr>
          <a:lstStyle/>
          <a:p>
            <a:pPr algn="l"/>
            <a:r>
              <a:rPr sz="700" b="1" i="0">
                <a:solidFill>
                  <a:srgbClr val="94A3B8"/>
                </a:solidFill>
              </a:rPr>
              <a:t>TOTAL VIDEOS</a:t>
            </a:r>
          </a:p>
        </p:txBody>
      </p:sp>
      <p:sp>
        <p:nvSpPr>
          <p:cNvPr id="63" name="TextBox 62"/>
          <p:cNvSpPr txBox="1"/>
          <p:nvPr/>
        </p:nvSpPr>
        <p:spPr>
          <a:xfrm>
            <a:off x="5486400" y="2514600"/>
            <a:ext cx="1463040" cy="320040"/>
          </a:xfrm>
          <a:prstGeom prst="rect">
            <a:avLst/>
          </a:prstGeom>
          <a:noFill/>
        </p:spPr>
        <p:txBody>
          <a:bodyPr wrap="square">
            <a:spAutoFit/>
          </a:bodyPr>
          <a:lstStyle/>
          <a:p>
            <a:pPr algn="l"/>
            <a:r>
              <a:rPr sz="1100" b="1" i="0">
                <a:solidFill>
                  <a:srgbClr val="FFFFFF"/>
                </a:solidFill>
              </a:rPr>
              <a:t>327</a:t>
            </a:r>
          </a:p>
        </p:txBody>
      </p:sp>
      <p:sp>
        <p:nvSpPr>
          <p:cNvPr id="64" name="TextBox 63"/>
          <p:cNvSpPr txBox="1"/>
          <p:nvPr/>
        </p:nvSpPr>
        <p:spPr>
          <a:xfrm>
            <a:off x="5486400" y="2926080"/>
            <a:ext cx="1463040" cy="228600"/>
          </a:xfrm>
          <a:prstGeom prst="rect">
            <a:avLst/>
          </a:prstGeom>
          <a:noFill/>
        </p:spPr>
        <p:txBody>
          <a:bodyPr wrap="square">
            <a:spAutoFit/>
          </a:bodyPr>
          <a:lstStyle/>
          <a:p>
            <a:pPr algn="l"/>
            <a:r>
              <a:rPr sz="700" b="1" i="0">
                <a:solidFill>
                  <a:srgbClr val="94A3B8"/>
                </a:solidFill>
              </a:rPr>
              <a:t>TOTAL VIEWS</a:t>
            </a:r>
          </a:p>
        </p:txBody>
      </p:sp>
      <p:sp>
        <p:nvSpPr>
          <p:cNvPr id="65" name="TextBox 64"/>
          <p:cNvSpPr txBox="1"/>
          <p:nvPr/>
        </p:nvSpPr>
        <p:spPr>
          <a:xfrm>
            <a:off x="5486400" y="3154680"/>
            <a:ext cx="1463040" cy="320040"/>
          </a:xfrm>
          <a:prstGeom prst="rect">
            <a:avLst/>
          </a:prstGeom>
          <a:noFill/>
        </p:spPr>
        <p:txBody>
          <a:bodyPr wrap="square">
            <a:spAutoFit/>
          </a:bodyPr>
          <a:lstStyle/>
          <a:p>
            <a:pPr algn="l"/>
            <a:r>
              <a:rPr sz="1100" b="1" i="0">
                <a:solidFill>
                  <a:srgbClr val="FFFFFF"/>
                </a:solidFill>
              </a:rPr>
              <a:t>8,967,087</a:t>
            </a:r>
          </a:p>
        </p:txBody>
      </p:sp>
      <p:sp>
        <p:nvSpPr>
          <p:cNvPr id="66" name="TextBox 65"/>
          <p:cNvSpPr txBox="1"/>
          <p:nvPr/>
        </p:nvSpPr>
        <p:spPr>
          <a:xfrm>
            <a:off x="5486400" y="3566159"/>
            <a:ext cx="1463040" cy="228600"/>
          </a:xfrm>
          <a:prstGeom prst="rect">
            <a:avLst/>
          </a:prstGeom>
          <a:noFill/>
        </p:spPr>
        <p:txBody>
          <a:bodyPr wrap="square">
            <a:spAutoFit/>
          </a:bodyPr>
          <a:lstStyle/>
          <a:p>
            <a:pPr algn="l"/>
            <a:r>
              <a:rPr sz="700" b="1" i="0">
                <a:solidFill>
                  <a:srgbClr val="94A3B8"/>
                </a:solidFill>
              </a:rPr>
              <a:t>UPLOAD FREQ</a:t>
            </a:r>
          </a:p>
        </p:txBody>
      </p:sp>
      <p:sp>
        <p:nvSpPr>
          <p:cNvPr id="67" name="TextBox 66"/>
          <p:cNvSpPr txBox="1"/>
          <p:nvPr/>
        </p:nvSpPr>
        <p:spPr>
          <a:xfrm>
            <a:off x="5486400" y="3794759"/>
            <a:ext cx="1463040" cy="320040"/>
          </a:xfrm>
          <a:prstGeom prst="rect">
            <a:avLst/>
          </a:prstGeom>
          <a:noFill/>
        </p:spPr>
        <p:txBody>
          <a:bodyPr wrap="square">
            <a:spAutoFit/>
          </a:bodyPr>
          <a:lstStyle/>
          <a:p>
            <a:pPr algn="l"/>
            <a:r>
              <a:rPr sz="1100" b="1" i="0">
                <a:solidFill>
                  <a:srgbClr val="FFFFFF"/>
                </a:solidFill>
              </a:rPr>
              <a:t>Every 1.1 days (Very</a:t>
            </a:r>
          </a:p>
        </p:txBody>
      </p:sp>
      <p:sp>
        <p:nvSpPr>
          <p:cNvPr id="68" name="TextBox 67"/>
          <p:cNvSpPr txBox="1"/>
          <p:nvPr/>
        </p:nvSpPr>
        <p:spPr>
          <a:xfrm>
            <a:off x="5486400" y="4206240"/>
            <a:ext cx="1463040" cy="228600"/>
          </a:xfrm>
          <a:prstGeom prst="rect">
            <a:avLst/>
          </a:prstGeom>
          <a:noFill/>
        </p:spPr>
        <p:txBody>
          <a:bodyPr wrap="square">
            <a:spAutoFit/>
          </a:bodyPr>
          <a:lstStyle/>
          <a:p>
            <a:pPr algn="l"/>
            <a:r>
              <a:rPr sz="700" b="1" i="0">
                <a:solidFill>
                  <a:srgbClr val="94A3B8"/>
                </a:solidFill>
              </a:rPr>
              <a:t>AVG VIEWS</a:t>
            </a:r>
          </a:p>
        </p:txBody>
      </p:sp>
      <p:sp>
        <p:nvSpPr>
          <p:cNvPr id="69" name="TextBox 68"/>
          <p:cNvSpPr txBox="1"/>
          <p:nvPr/>
        </p:nvSpPr>
        <p:spPr>
          <a:xfrm>
            <a:off x="5486400" y="4434840"/>
            <a:ext cx="1463040" cy="320040"/>
          </a:xfrm>
          <a:prstGeom prst="rect">
            <a:avLst/>
          </a:prstGeom>
          <a:noFill/>
        </p:spPr>
        <p:txBody>
          <a:bodyPr wrap="square">
            <a:spAutoFit/>
          </a:bodyPr>
          <a:lstStyle/>
          <a:p>
            <a:pPr algn="l"/>
            <a:r>
              <a:rPr sz="1100" b="1" i="0">
                <a:solidFill>
                  <a:srgbClr val="FFFFFF"/>
                </a:solidFill>
              </a:rPr>
              <a:t>17,412</a:t>
            </a:r>
          </a:p>
        </p:txBody>
      </p:sp>
      <p:sp>
        <p:nvSpPr>
          <p:cNvPr id="70" name="TextBox 69"/>
          <p:cNvSpPr txBox="1"/>
          <p:nvPr/>
        </p:nvSpPr>
        <p:spPr>
          <a:xfrm>
            <a:off x="5486400" y="4846320"/>
            <a:ext cx="1463040" cy="228600"/>
          </a:xfrm>
          <a:prstGeom prst="rect">
            <a:avLst/>
          </a:prstGeom>
          <a:noFill/>
        </p:spPr>
        <p:txBody>
          <a:bodyPr wrap="square">
            <a:spAutoFit/>
          </a:bodyPr>
          <a:lstStyle/>
          <a:p>
            <a:pPr algn="l"/>
            <a:r>
              <a:rPr sz="700" b="1" i="0">
                <a:solidFill>
                  <a:srgbClr val="94A3B8"/>
                </a:solidFill>
              </a:rPr>
              <a:t>AVG LIKES</a:t>
            </a:r>
          </a:p>
        </p:txBody>
      </p:sp>
      <p:sp>
        <p:nvSpPr>
          <p:cNvPr id="71" name="TextBox 70"/>
          <p:cNvSpPr txBox="1"/>
          <p:nvPr/>
        </p:nvSpPr>
        <p:spPr>
          <a:xfrm>
            <a:off x="5486400" y="5074920"/>
            <a:ext cx="1463040" cy="320040"/>
          </a:xfrm>
          <a:prstGeom prst="rect">
            <a:avLst/>
          </a:prstGeom>
          <a:noFill/>
        </p:spPr>
        <p:txBody>
          <a:bodyPr wrap="square">
            <a:spAutoFit/>
          </a:bodyPr>
          <a:lstStyle/>
          <a:p>
            <a:pPr algn="l"/>
            <a:r>
              <a:rPr sz="1100" b="1" i="0">
                <a:solidFill>
                  <a:srgbClr val="FFFFFF"/>
                </a:solidFill>
              </a:rPr>
              <a:t>1,047</a:t>
            </a:r>
          </a:p>
        </p:txBody>
      </p:sp>
      <p:sp>
        <p:nvSpPr>
          <p:cNvPr id="72" name="TextBox 71"/>
          <p:cNvSpPr txBox="1"/>
          <p:nvPr/>
        </p:nvSpPr>
        <p:spPr>
          <a:xfrm>
            <a:off x="5486400" y="5486399"/>
            <a:ext cx="1463040" cy="228600"/>
          </a:xfrm>
          <a:prstGeom prst="rect">
            <a:avLst/>
          </a:prstGeom>
          <a:noFill/>
        </p:spPr>
        <p:txBody>
          <a:bodyPr wrap="square">
            <a:spAutoFit/>
          </a:bodyPr>
          <a:lstStyle/>
          <a:p>
            <a:pPr algn="l"/>
            <a:r>
              <a:rPr sz="700" b="1" i="0">
                <a:solidFill>
                  <a:srgbClr val="94A3B8"/>
                </a:solidFill>
              </a:rPr>
              <a:t>AVG COMMENTS</a:t>
            </a:r>
          </a:p>
        </p:txBody>
      </p:sp>
      <p:sp>
        <p:nvSpPr>
          <p:cNvPr id="73" name="TextBox 72"/>
          <p:cNvSpPr txBox="1"/>
          <p:nvPr/>
        </p:nvSpPr>
        <p:spPr>
          <a:xfrm>
            <a:off x="5486400" y="5714999"/>
            <a:ext cx="1463040" cy="320040"/>
          </a:xfrm>
          <a:prstGeom prst="rect">
            <a:avLst/>
          </a:prstGeom>
          <a:noFill/>
        </p:spPr>
        <p:txBody>
          <a:bodyPr wrap="square">
            <a:spAutoFit/>
          </a:bodyPr>
          <a:lstStyle/>
          <a:p>
            <a:pPr algn="l"/>
            <a:r>
              <a:rPr sz="1100" b="1" i="0">
                <a:solidFill>
                  <a:srgbClr val="FFFFFF"/>
                </a:solidFill>
              </a:rPr>
              <a:t>81</a:t>
            </a:r>
          </a:p>
        </p:txBody>
      </p:sp>
      <p:sp>
        <p:nvSpPr>
          <p:cNvPr id="74" name="Rectangle 73"/>
          <p:cNvSpPr/>
          <p:nvPr/>
        </p:nvSpPr>
        <p:spPr>
          <a:xfrm>
            <a:off x="704088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040880" y="914400"/>
            <a:ext cx="1554480" cy="9144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132320" y="1051560"/>
            <a:ext cx="1463040" cy="457200"/>
          </a:xfrm>
          <a:prstGeom prst="rect">
            <a:avLst/>
          </a:prstGeom>
          <a:noFill/>
        </p:spPr>
        <p:txBody>
          <a:bodyPr wrap="square">
            <a:spAutoFit/>
          </a:bodyPr>
          <a:lstStyle/>
          <a:p>
            <a:pPr algn="l"/>
            <a:r>
              <a:rPr sz="1300" b="1" i="0">
                <a:solidFill>
                  <a:srgbClr val="A855F7"/>
                </a:solidFill>
              </a:rPr>
              <a:t>Amazon</a:t>
            </a:r>
          </a:p>
        </p:txBody>
      </p:sp>
      <p:sp>
        <p:nvSpPr>
          <p:cNvPr id="77" name="TextBox 76"/>
          <p:cNvSpPr txBox="1"/>
          <p:nvPr/>
        </p:nvSpPr>
        <p:spPr>
          <a:xfrm>
            <a:off x="7132320" y="1645920"/>
            <a:ext cx="1463040" cy="228600"/>
          </a:xfrm>
          <a:prstGeom prst="rect">
            <a:avLst/>
          </a:prstGeom>
          <a:noFill/>
        </p:spPr>
        <p:txBody>
          <a:bodyPr wrap="square">
            <a:spAutoFit/>
          </a:bodyPr>
          <a:lstStyle/>
          <a:p>
            <a:pPr algn="l"/>
            <a:r>
              <a:rPr sz="700" b="1" i="0">
                <a:solidFill>
                  <a:srgbClr val="94A3B8"/>
                </a:solidFill>
              </a:rPr>
              <a:t>SUBSCRIBERS</a:t>
            </a:r>
          </a:p>
        </p:txBody>
      </p:sp>
      <p:sp>
        <p:nvSpPr>
          <p:cNvPr id="78" name="TextBox 77"/>
          <p:cNvSpPr txBox="1"/>
          <p:nvPr/>
        </p:nvSpPr>
        <p:spPr>
          <a:xfrm>
            <a:off x="7132320" y="1874519"/>
            <a:ext cx="1463040" cy="320040"/>
          </a:xfrm>
          <a:prstGeom prst="rect">
            <a:avLst/>
          </a:prstGeom>
          <a:noFill/>
        </p:spPr>
        <p:txBody>
          <a:bodyPr wrap="square">
            <a:spAutoFit/>
          </a:bodyPr>
          <a:lstStyle/>
          <a:p>
            <a:pPr algn="l"/>
            <a:r>
              <a:rPr sz="1100" b="1" i="0">
                <a:solidFill>
                  <a:srgbClr val="FFFFFF"/>
                </a:solidFill>
              </a:rPr>
              <a:t>4,700,000</a:t>
            </a:r>
          </a:p>
        </p:txBody>
      </p:sp>
      <p:sp>
        <p:nvSpPr>
          <p:cNvPr id="79" name="TextBox 78"/>
          <p:cNvSpPr txBox="1"/>
          <p:nvPr/>
        </p:nvSpPr>
        <p:spPr>
          <a:xfrm>
            <a:off x="7132320" y="2286000"/>
            <a:ext cx="1463040" cy="228600"/>
          </a:xfrm>
          <a:prstGeom prst="rect">
            <a:avLst/>
          </a:prstGeom>
          <a:noFill/>
        </p:spPr>
        <p:txBody>
          <a:bodyPr wrap="square">
            <a:spAutoFit/>
          </a:bodyPr>
          <a:lstStyle/>
          <a:p>
            <a:pPr algn="l"/>
            <a:r>
              <a:rPr sz="700" b="1" i="0">
                <a:solidFill>
                  <a:srgbClr val="94A3B8"/>
                </a:solidFill>
              </a:rPr>
              <a:t>TOTAL VIDEOS</a:t>
            </a:r>
          </a:p>
        </p:txBody>
      </p:sp>
      <p:sp>
        <p:nvSpPr>
          <p:cNvPr id="80" name="TextBox 79"/>
          <p:cNvSpPr txBox="1"/>
          <p:nvPr/>
        </p:nvSpPr>
        <p:spPr>
          <a:xfrm>
            <a:off x="7132320" y="2514600"/>
            <a:ext cx="1463040" cy="320040"/>
          </a:xfrm>
          <a:prstGeom prst="rect">
            <a:avLst/>
          </a:prstGeom>
          <a:noFill/>
        </p:spPr>
        <p:txBody>
          <a:bodyPr wrap="square">
            <a:spAutoFit/>
          </a:bodyPr>
          <a:lstStyle/>
          <a:p>
            <a:pPr algn="l"/>
            <a:r>
              <a:rPr sz="1100" b="1" i="0">
                <a:solidFill>
                  <a:srgbClr val="FFFFFF"/>
                </a:solidFill>
              </a:rPr>
              <a:t>5,344</a:t>
            </a:r>
          </a:p>
        </p:txBody>
      </p:sp>
      <p:sp>
        <p:nvSpPr>
          <p:cNvPr id="81" name="TextBox 80"/>
          <p:cNvSpPr txBox="1"/>
          <p:nvPr/>
        </p:nvSpPr>
        <p:spPr>
          <a:xfrm>
            <a:off x="7132320" y="2926080"/>
            <a:ext cx="1463040" cy="228600"/>
          </a:xfrm>
          <a:prstGeom prst="rect">
            <a:avLst/>
          </a:prstGeom>
          <a:noFill/>
        </p:spPr>
        <p:txBody>
          <a:bodyPr wrap="square">
            <a:spAutoFit/>
          </a:bodyPr>
          <a:lstStyle/>
          <a:p>
            <a:pPr algn="l"/>
            <a:r>
              <a:rPr sz="700" b="1" i="0">
                <a:solidFill>
                  <a:srgbClr val="94A3B8"/>
                </a:solidFill>
              </a:rPr>
              <a:t>TOTAL VIEWS</a:t>
            </a:r>
          </a:p>
        </p:txBody>
      </p:sp>
      <p:sp>
        <p:nvSpPr>
          <p:cNvPr id="82" name="TextBox 81"/>
          <p:cNvSpPr txBox="1"/>
          <p:nvPr/>
        </p:nvSpPr>
        <p:spPr>
          <a:xfrm>
            <a:off x="7132320" y="3154680"/>
            <a:ext cx="1463040" cy="320040"/>
          </a:xfrm>
          <a:prstGeom prst="rect">
            <a:avLst/>
          </a:prstGeom>
          <a:noFill/>
        </p:spPr>
        <p:txBody>
          <a:bodyPr wrap="square">
            <a:spAutoFit/>
          </a:bodyPr>
          <a:lstStyle/>
          <a:p>
            <a:pPr algn="l"/>
            <a:r>
              <a:rPr sz="1100" b="1" i="0">
                <a:solidFill>
                  <a:srgbClr val="FFFFFF"/>
                </a:solidFill>
              </a:rPr>
              <a:t>1,886,477,247</a:t>
            </a:r>
          </a:p>
        </p:txBody>
      </p:sp>
      <p:sp>
        <p:nvSpPr>
          <p:cNvPr id="83" name="TextBox 82"/>
          <p:cNvSpPr txBox="1"/>
          <p:nvPr/>
        </p:nvSpPr>
        <p:spPr>
          <a:xfrm>
            <a:off x="7132320" y="3566159"/>
            <a:ext cx="1463040" cy="228600"/>
          </a:xfrm>
          <a:prstGeom prst="rect">
            <a:avLst/>
          </a:prstGeom>
          <a:noFill/>
        </p:spPr>
        <p:txBody>
          <a:bodyPr wrap="square">
            <a:spAutoFit/>
          </a:bodyPr>
          <a:lstStyle/>
          <a:p>
            <a:pPr algn="l"/>
            <a:r>
              <a:rPr sz="700" b="1" i="0">
                <a:solidFill>
                  <a:srgbClr val="94A3B8"/>
                </a:solidFill>
              </a:rPr>
              <a:t>UPLOAD FREQ</a:t>
            </a:r>
          </a:p>
        </p:txBody>
      </p:sp>
      <p:sp>
        <p:nvSpPr>
          <p:cNvPr id="84" name="TextBox 83"/>
          <p:cNvSpPr txBox="1"/>
          <p:nvPr/>
        </p:nvSpPr>
        <p:spPr>
          <a:xfrm>
            <a:off x="7132320" y="3794759"/>
            <a:ext cx="1463040" cy="320040"/>
          </a:xfrm>
          <a:prstGeom prst="rect">
            <a:avLst/>
          </a:prstGeom>
          <a:noFill/>
        </p:spPr>
        <p:txBody>
          <a:bodyPr wrap="square">
            <a:spAutoFit/>
          </a:bodyPr>
          <a:lstStyle/>
          <a:p>
            <a:pPr algn="l"/>
            <a:r>
              <a:rPr sz="1100" b="1" i="0">
                <a:solidFill>
                  <a:srgbClr val="FFFFFF"/>
                </a:solidFill>
              </a:rPr>
              <a:t>Every 0.1 days (Very</a:t>
            </a:r>
          </a:p>
        </p:txBody>
      </p:sp>
      <p:sp>
        <p:nvSpPr>
          <p:cNvPr id="85" name="TextBox 84"/>
          <p:cNvSpPr txBox="1"/>
          <p:nvPr/>
        </p:nvSpPr>
        <p:spPr>
          <a:xfrm>
            <a:off x="7132320" y="4206240"/>
            <a:ext cx="1463040" cy="228600"/>
          </a:xfrm>
          <a:prstGeom prst="rect">
            <a:avLst/>
          </a:prstGeom>
          <a:noFill/>
        </p:spPr>
        <p:txBody>
          <a:bodyPr wrap="square">
            <a:spAutoFit/>
          </a:bodyPr>
          <a:lstStyle/>
          <a:p>
            <a:pPr algn="l"/>
            <a:r>
              <a:rPr sz="700" b="1" i="0">
                <a:solidFill>
                  <a:srgbClr val="94A3B8"/>
                </a:solidFill>
              </a:rPr>
              <a:t>AVG VIEWS</a:t>
            </a:r>
          </a:p>
        </p:txBody>
      </p:sp>
      <p:sp>
        <p:nvSpPr>
          <p:cNvPr id="86" name="TextBox 85"/>
          <p:cNvSpPr txBox="1"/>
          <p:nvPr/>
        </p:nvSpPr>
        <p:spPr>
          <a:xfrm>
            <a:off x="7132320" y="4434840"/>
            <a:ext cx="1463040" cy="320040"/>
          </a:xfrm>
          <a:prstGeom prst="rect">
            <a:avLst/>
          </a:prstGeom>
          <a:noFill/>
        </p:spPr>
        <p:txBody>
          <a:bodyPr wrap="square">
            <a:spAutoFit/>
          </a:bodyPr>
          <a:lstStyle/>
          <a:p>
            <a:pPr algn="l"/>
            <a:r>
              <a:rPr sz="1100" b="1" i="0">
                <a:solidFill>
                  <a:srgbClr val="FFFFFF"/>
                </a:solidFill>
              </a:rPr>
              <a:t>5,633</a:t>
            </a:r>
          </a:p>
        </p:txBody>
      </p:sp>
      <p:sp>
        <p:nvSpPr>
          <p:cNvPr id="87" name="TextBox 86"/>
          <p:cNvSpPr txBox="1"/>
          <p:nvPr/>
        </p:nvSpPr>
        <p:spPr>
          <a:xfrm>
            <a:off x="7132320" y="4846320"/>
            <a:ext cx="1463040" cy="228600"/>
          </a:xfrm>
          <a:prstGeom prst="rect">
            <a:avLst/>
          </a:prstGeom>
          <a:noFill/>
        </p:spPr>
        <p:txBody>
          <a:bodyPr wrap="square">
            <a:spAutoFit/>
          </a:bodyPr>
          <a:lstStyle/>
          <a:p>
            <a:pPr algn="l"/>
            <a:r>
              <a:rPr sz="700" b="1" i="0">
                <a:solidFill>
                  <a:srgbClr val="94A3B8"/>
                </a:solidFill>
              </a:rPr>
              <a:t>AVG LIKES</a:t>
            </a:r>
          </a:p>
        </p:txBody>
      </p:sp>
      <p:sp>
        <p:nvSpPr>
          <p:cNvPr id="88" name="TextBox 87"/>
          <p:cNvSpPr txBox="1"/>
          <p:nvPr/>
        </p:nvSpPr>
        <p:spPr>
          <a:xfrm>
            <a:off x="7132320" y="5074920"/>
            <a:ext cx="1463040" cy="320040"/>
          </a:xfrm>
          <a:prstGeom prst="rect">
            <a:avLst/>
          </a:prstGeom>
          <a:noFill/>
        </p:spPr>
        <p:txBody>
          <a:bodyPr wrap="square">
            <a:spAutoFit/>
          </a:bodyPr>
          <a:lstStyle/>
          <a:p>
            <a:pPr algn="l"/>
            <a:r>
              <a:rPr sz="1100" b="1" i="0">
                <a:solidFill>
                  <a:srgbClr val="FFFFFF"/>
                </a:solidFill>
              </a:rPr>
              <a:t>148</a:t>
            </a:r>
          </a:p>
        </p:txBody>
      </p:sp>
      <p:sp>
        <p:nvSpPr>
          <p:cNvPr id="89" name="TextBox 88"/>
          <p:cNvSpPr txBox="1"/>
          <p:nvPr/>
        </p:nvSpPr>
        <p:spPr>
          <a:xfrm>
            <a:off x="7132320" y="5486399"/>
            <a:ext cx="1463040" cy="228600"/>
          </a:xfrm>
          <a:prstGeom prst="rect">
            <a:avLst/>
          </a:prstGeom>
          <a:noFill/>
        </p:spPr>
        <p:txBody>
          <a:bodyPr wrap="square">
            <a:spAutoFit/>
          </a:bodyPr>
          <a:lstStyle/>
          <a:p>
            <a:pPr algn="l"/>
            <a:r>
              <a:rPr sz="700" b="1" i="0">
                <a:solidFill>
                  <a:srgbClr val="94A3B8"/>
                </a:solidFill>
              </a:rPr>
              <a:t>AVG COMMENTS</a:t>
            </a:r>
          </a:p>
        </p:txBody>
      </p:sp>
      <p:sp>
        <p:nvSpPr>
          <p:cNvPr id="90" name="TextBox 89"/>
          <p:cNvSpPr txBox="1"/>
          <p:nvPr/>
        </p:nvSpPr>
        <p:spPr>
          <a:xfrm>
            <a:off x="7132320" y="5714999"/>
            <a:ext cx="1463040" cy="320040"/>
          </a:xfrm>
          <a:prstGeom prst="rect">
            <a:avLst/>
          </a:prstGeom>
          <a:noFill/>
        </p:spPr>
        <p:txBody>
          <a:bodyPr wrap="square">
            <a:spAutoFit/>
          </a:bodyPr>
          <a:lstStyle/>
          <a:p>
            <a:pPr algn="l"/>
            <a:r>
              <a:rPr sz="1100" b="1" i="0">
                <a:solidFill>
                  <a:srgbClr val="FFFFFF"/>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04</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600" b="1" i="0">
                <a:solidFill>
                  <a:srgbClr val="FFFFFF"/>
                </a:solidFill>
              </a:rPr>
              <a:t>CONTENT PERFORMANCE — TOP VIDEOS</a:t>
            </a:r>
          </a:p>
        </p:txBody>
      </p:sp>
      <p:sp>
        <p:nvSpPr>
          <p:cNvPr id="5" name="Rectangle 4"/>
          <p:cNvSpPr/>
          <p:nvPr/>
        </p:nvSpPr>
        <p:spPr>
          <a:xfrm>
            <a:off x="457200" y="777240"/>
            <a:ext cx="82296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14400"/>
            <a:ext cx="1554480" cy="91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1463040" cy="365760"/>
          </a:xfrm>
          <a:prstGeom prst="rect">
            <a:avLst/>
          </a:prstGeom>
          <a:noFill/>
        </p:spPr>
        <p:txBody>
          <a:bodyPr wrap="square">
            <a:spAutoFit/>
          </a:bodyPr>
          <a:lstStyle/>
          <a:p>
            <a:pPr algn="l"/>
            <a:r>
              <a:rPr sz="1200" b="1" i="0">
                <a:solidFill>
                  <a:srgbClr val="3B82F6"/>
                </a:solidFill>
              </a:rPr>
              <a:t>Google</a:t>
            </a:r>
          </a:p>
        </p:txBody>
      </p:sp>
      <p:sp>
        <p:nvSpPr>
          <p:cNvPr id="9" name="Rectangle 8"/>
          <p:cNvSpPr/>
          <p:nvPr/>
        </p:nvSpPr>
        <p:spPr>
          <a:xfrm>
            <a:off x="502920" y="155448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00200"/>
            <a:ext cx="1417320" cy="640080"/>
          </a:xfrm>
          <a:prstGeom prst="rect">
            <a:avLst/>
          </a:prstGeom>
          <a:noFill/>
        </p:spPr>
        <p:txBody>
          <a:bodyPr wrap="square">
            <a:spAutoFit/>
          </a:bodyPr>
          <a:lstStyle/>
          <a:p>
            <a:pPr algn="l"/>
            <a:r>
              <a:rPr sz="800" b="0" i="0">
                <a:solidFill>
                  <a:srgbClr val="FFFFFF"/>
                </a:solidFill>
              </a:rPr>
              <a:t>AI Websites, Crawling and Search Console upda...</a:t>
            </a:r>
          </a:p>
        </p:txBody>
      </p:sp>
      <p:sp>
        <p:nvSpPr>
          <p:cNvPr id="11" name="TextBox 10"/>
          <p:cNvSpPr txBox="1"/>
          <p:nvPr/>
        </p:nvSpPr>
        <p:spPr>
          <a:xfrm>
            <a:off x="548640" y="2240280"/>
            <a:ext cx="1417320" cy="274320"/>
          </a:xfrm>
          <a:prstGeom prst="rect">
            <a:avLst/>
          </a:prstGeom>
          <a:noFill/>
        </p:spPr>
        <p:txBody>
          <a:bodyPr wrap="square">
            <a:spAutoFit/>
          </a:bodyPr>
          <a:lstStyle/>
          <a:p>
            <a:pPr algn="l"/>
            <a:r>
              <a:rPr sz="800" b="0" i="0">
                <a:solidFill>
                  <a:srgbClr val="3B82F6"/>
                </a:solidFill>
              </a:rPr>
              <a:t>👁 16,422</a:t>
            </a:r>
          </a:p>
        </p:txBody>
      </p:sp>
      <p:sp>
        <p:nvSpPr>
          <p:cNvPr id="12" name="TextBox 11"/>
          <p:cNvSpPr txBox="1"/>
          <p:nvPr/>
        </p:nvSpPr>
        <p:spPr>
          <a:xfrm>
            <a:off x="548640" y="2514600"/>
            <a:ext cx="1417320" cy="274320"/>
          </a:xfrm>
          <a:prstGeom prst="rect">
            <a:avLst/>
          </a:prstGeom>
          <a:noFill/>
        </p:spPr>
        <p:txBody>
          <a:bodyPr wrap="square">
            <a:spAutoFit/>
          </a:bodyPr>
          <a:lstStyle/>
          <a:p>
            <a:pPr algn="l"/>
            <a:r>
              <a:rPr sz="800" b="0" i="0">
                <a:solidFill>
                  <a:srgbClr val="10B981"/>
                </a:solidFill>
              </a:rPr>
              <a:t>👍 682</a:t>
            </a:r>
          </a:p>
        </p:txBody>
      </p:sp>
      <p:sp>
        <p:nvSpPr>
          <p:cNvPr id="13" name="Rectangle 12"/>
          <p:cNvSpPr/>
          <p:nvPr/>
        </p:nvSpPr>
        <p:spPr>
          <a:xfrm>
            <a:off x="502920" y="310896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154679"/>
            <a:ext cx="1417320" cy="640080"/>
          </a:xfrm>
          <a:prstGeom prst="rect">
            <a:avLst/>
          </a:prstGeom>
          <a:noFill/>
        </p:spPr>
        <p:txBody>
          <a:bodyPr wrap="square">
            <a:spAutoFit/>
          </a:bodyPr>
          <a:lstStyle/>
          <a:p>
            <a:pPr algn="l"/>
            <a:r>
              <a:rPr sz="800" b="0" i="0">
                <a:solidFill>
                  <a:srgbClr val="FFFFFF"/>
                </a:solidFill>
              </a:rPr>
              <a:t>How AI Is Changing Google Search and SEO</a:t>
            </a:r>
          </a:p>
        </p:txBody>
      </p:sp>
      <p:sp>
        <p:nvSpPr>
          <p:cNvPr id="15" name="TextBox 14"/>
          <p:cNvSpPr txBox="1"/>
          <p:nvPr/>
        </p:nvSpPr>
        <p:spPr>
          <a:xfrm>
            <a:off x="548640" y="3794760"/>
            <a:ext cx="1417320" cy="274320"/>
          </a:xfrm>
          <a:prstGeom prst="rect">
            <a:avLst/>
          </a:prstGeom>
          <a:noFill/>
        </p:spPr>
        <p:txBody>
          <a:bodyPr wrap="square">
            <a:spAutoFit/>
          </a:bodyPr>
          <a:lstStyle/>
          <a:p>
            <a:pPr algn="l"/>
            <a:r>
              <a:rPr sz="800" b="0" i="0">
                <a:solidFill>
                  <a:srgbClr val="3B82F6"/>
                </a:solidFill>
              </a:rPr>
              <a:t>👁 7,511</a:t>
            </a:r>
          </a:p>
        </p:txBody>
      </p:sp>
      <p:sp>
        <p:nvSpPr>
          <p:cNvPr id="16" name="TextBox 15"/>
          <p:cNvSpPr txBox="1"/>
          <p:nvPr/>
        </p:nvSpPr>
        <p:spPr>
          <a:xfrm>
            <a:off x="548640" y="4069080"/>
            <a:ext cx="1417320" cy="274320"/>
          </a:xfrm>
          <a:prstGeom prst="rect">
            <a:avLst/>
          </a:prstGeom>
          <a:noFill/>
        </p:spPr>
        <p:txBody>
          <a:bodyPr wrap="square">
            <a:spAutoFit/>
          </a:bodyPr>
          <a:lstStyle/>
          <a:p>
            <a:pPr algn="l"/>
            <a:r>
              <a:rPr sz="800" b="0" i="0">
                <a:solidFill>
                  <a:srgbClr val="10B981"/>
                </a:solidFill>
              </a:rPr>
              <a:t>👍 160</a:t>
            </a:r>
          </a:p>
        </p:txBody>
      </p:sp>
      <p:sp>
        <p:nvSpPr>
          <p:cNvPr id="17" name="Rectangle 16"/>
          <p:cNvSpPr/>
          <p:nvPr/>
        </p:nvSpPr>
        <p:spPr>
          <a:xfrm>
            <a:off x="502920" y="466344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709159"/>
            <a:ext cx="1417320" cy="640080"/>
          </a:xfrm>
          <a:prstGeom prst="rect">
            <a:avLst/>
          </a:prstGeom>
          <a:noFill/>
        </p:spPr>
        <p:txBody>
          <a:bodyPr wrap="square">
            <a:spAutoFit/>
          </a:bodyPr>
          <a:lstStyle/>
          <a:p>
            <a:pPr algn="l"/>
            <a:r>
              <a:rPr sz="800" b="0" i="0">
                <a:solidFill>
                  <a:srgbClr val="FFFFFF"/>
                </a:solidFill>
              </a:rPr>
              <a:t>Google crawlers behind the scenes</a:t>
            </a:r>
          </a:p>
        </p:txBody>
      </p:sp>
      <p:sp>
        <p:nvSpPr>
          <p:cNvPr id="19" name="TextBox 18"/>
          <p:cNvSpPr txBox="1"/>
          <p:nvPr/>
        </p:nvSpPr>
        <p:spPr>
          <a:xfrm>
            <a:off x="548640" y="5349240"/>
            <a:ext cx="1417320" cy="274320"/>
          </a:xfrm>
          <a:prstGeom prst="rect">
            <a:avLst/>
          </a:prstGeom>
          <a:noFill/>
        </p:spPr>
        <p:txBody>
          <a:bodyPr wrap="square">
            <a:spAutoFit/>
          </a:bodyPr>
          <a:lstStyle/>
          <a:p>
            <a:pPr algn="l"/>
            <a:r>
              <a:rPr sz="800" b="0" i="0">
                <a:solidFill>
                  <a:srgbClr val="3B82F6"/>
                </a:solidFill>
              </a:rPr>
              <a:t>👁 7,356</a:t>
            </a:r>
          </a:p>
        </p:txBody>
      </p:sp>
      <p:sp>
        <p:nvSpPr>
          <p:cNvPr id="20" name="TextBox 19"/>
          <p:cNvSpPr txBox="1"/>
          <p:nvPr/>
        </p:nvSpPr>
        <p:spPr>
          <a:xfrm>
            <a:off x="548640" y="5623559"/>
            <a:ext cx="1417320" cy="274320"/>
          </a:xfrm>
          <a:prstGeom prst="rect">
            <a:avLst/>
          </a:prstGeom>
          <a:noFill/>
        </p:spPr>
        <p:txBody>
          <a:bodyPr wrap="square">
            <a:spAutoFit/>
          </a:bodyPr>
          <a:lstStyle/>
          <a:p>
            <a:pPr algn="l"/>
            <a:r>
              <a:rPr sz="800" b="0" i="0">
                <a:solidFill>
                  <a:srgbClr val="10B981"/>
                </a:solidFill>
              </a:rPr>
              <a:t>👍 151</a:t>
            </a:r>
          </a:p>
        </p:txBody>
      </p:sp>
      <p:sp>
        <p:nvSpPr>
          <p:cNvPr id="21" name="Rectangle 20"/>
          <p:cNvSpPr/>
          <p:nvPr/>
        </p:nvSpPr>
        <p:spPr>
          <a:xfrm>
            <a:off x="210312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03120" y="914400"/>
            <a:ext cx="155448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94560" y="1051560"/>
            <a:ext cx="1463040" cy="365760"/>
          </a:xfrm>
          <a:prstGeom prst="rect">
            <a:avLst/>
          </a:prstGeom>
          <a:noFill/>
        </p:spPr>
        <p:txBody>
          <a:bodyPr wrap="square">
            <a:spAutoFit/>
          </a:bodyPr>
          <a:lstStyle/>
          <a:p>
            <a:pPr algn="l"/>
            <a:r>
              <a:rPr sz="1200" b="1" i="0">
                <a:solidFill>
                  <a:srgbClr val="10B981"/>
                </a:solidFill>
              </a:rPr>
              <a:t>Apple</a:t>
            </a:r>
          </a:p>
        </p:txBody>
      </p:sp>
      <p:sp>
        <p:nvSpPr>
          <p:cNvPr id="24" name="Rectangle 23"/>
          <p:cNvSpPr/>
          <p:nvPr/>
        </p:nvSpPr>
        <p:spPr>
          <a:xfrm>
            <a:off x="2148839" y="155448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1600200"/>
            <a:ext cx="1417320" cy="640080"/>
          </a:xfrm>
          <a:prstGeom prst="rect">
            <a:avLst/>
          </a:prstGeom>
          <a:noFill/>
        </p:spPr>
        <p:txBody>
          <a:bodyPr wrap="square">
            <a:spAutoFit/>
          </a:bodyPr>
          <a:lstStyle/>
          <a:p>
            <a:pPr algn="l"/>
            <a:r>
              <a:rPr sz="800" b="0" i="0">
                <a:solidFill>
                  <a:srgbClr val="FFFFFF"/>
                </a:solidFill>
              </a:rPr>
              <a:t>Watch Molly Baz turn her new recipe into a vi...</a:t>
            </a:r>
          </a:p>
        </p:txBody>
      </p:sp>
      <p:sp>
        <p:nvSpPr>
          <p:cNvPr id="26" name="TextBox 25"/>
          <p:cNvSpPr txBox="1"/>
          <p:nvPr/>
        </p:nvSpPr>
        <p:spPr>
          <a:xfrm>
            <a:off x="2194560" y="2240280"/>
            <a:ext cx="1417320" cy="274320"/>
          </a:xfrm>
          <a:prstGeom prst="rect">
            <a:avLst/>
          </a:prstGeom>
          <a:noFill/>
        </p:spPr>
        <p:txBody>
          <a:bodyPr wrap="square">
            <a:spAutoFit/>
          </a:bodyPr>
          <a:lstStyle/>
          <a:p>
            <a:pPr algn="l"/>
            <a:r>
              <a:rPr sz="800" b="0" i="0">
                <a:solidFill>
                  <a:srgbClr val="3B82F6"/>
                </a:solidFill>
              </a:rPr>
              <a:t>👁 935,722</a:t>
            </a:r>
          </a:p>
        </p:txBody>
      </p:sp>
      <p:sp>
        <p:nvSpPr>
          <p:cNvPr id="27" name="TextBox 26"/>
          <p:cNvSpPr txBox="1"/>
          <p:nvPr/>
        </p:nvSpPr>
        <p:spPr>
          <a:xfrm>
            <a:off x="2194560" y="2514600"/>
            <a:ext cx="1417320" cy="274320"/>
          </a:xfrm>
          <a:prstGeom prst="rect">
            <a:avLst/>
          </a:prstGeom>
          <a:noFill/>
        </p:spPr>
        <p:txBody>
          <a:bodyPr wrap="square">
            <a:spAutoFit/>
          </a:bodyPr>
          <a:lstStyle/>
          <a:p>
            <a:pPr algn="l"/>
            <a:r>
              <a:rPr sz="800" b="0" i="0">
                <a:solidFill>
                  <a:srgbClr val="10B981"/>
                </a:solidFill>
              </a:rPr>
              <a:t>👍 2,698</a:t>
            </a:r>
          </a:p>
        </p:txBody>
      </p:sp>
      <p:sp>
        <p:nvSpPr>
          <p:cNvPr id="28" name="Rectangle 27"/>
          <p:cNvSpPr/>
          <p:nvPr/>
        </p:nvSpPr>
        <p:spPr>
          <a:xfrm>
            <a:off x="2148839" y="310896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94560" y="3154679"/>
            <a:ext cx="1417320" cy="640080"/>
          </a:xfrm>
          <a:prstGeom prst="rect">
            <a:avLst/>
          </a:prstGeom>
          <a:noFill/>
        </p:spPr>
        <p:txBody>
          <a:bodyPr wrap="square">
            <a:spAutoFit/>
          </a:bodyPr>
          <a:lstStyle/>
          <a:p>
            <a:pPr algn="l"/>
            <a:r>
              <a:rPr sz="800" b="0" i="0">
                <a:solidFill>
                  <a:srgbClr val="FFFFFF"/>
                </a:solidFill>
              </a:rPr>
              <a:t>Mac Students: The journey to great ideas in c...</a:t>
            </a:r>
          </a:p>
        </p:txBody>
      </p:sp>
      <p:sp>
        <p:nvSpPr>
          <p:cNvPr id="30" name="TextBox 29"/>
          <p:cNvSpPr txBox="1"/>
          <p:nvPr/>
        </p:nvSpPr>
        <p:spPr>
          <a:xfrm>
            <a:off x="2194560" y="3794760"/>
            <a:ext cx="1417320" cy="274320"/>
          </a:xfrm>
          <a:prstGeom prst="rect">
            <a:avLst/>
          </a:prstGeom>
          <a:noFill/>
        </p:spPr>
        <p:txBody>
          <a:bodyPr wrap="square">
            <a:spAutoFit/>
          </a:bodyPr>
          <a:lstStyle/>
          <a:p>
            <a:pPr algn="l"/>
            <a:r>
              <a:rPr sz="800" b="0" i="0">
                <a:solidFill>
                  <a:srgbClr val="3B82F6"/>
                </a:solidFill>
              </a:rPr>
              <a:t>👁 749,383</a:t>
            </a:r>
          </a:p>
        </p:txBody>
      </p:sp>
      <p:sp>
        <p:nvSpPr>
          <p:cNvPr id="31" name="TextBox 30"/>
          <p:cNvSpPr txBox="1"/>
          <p:nvPr/>
        </p:nvSpPr>
        <p:spPr>
          <a:xfrm>
            <a:off x="2194560" y="4069080"/>
            <a:ext cx="1417320" cy="274320"/>
          </a:xfrm>
          <a:prstGeom prst="rect">
            <a:avLst/>
          </a:prstGeom>
          <a:noFill/>
        </p:spPr>
        <p:txBody>
          <a:bodyPr wrap="square">
            <a:spAutoFit/>
          </a:bodyPr>
          <a:lstStyle/>
          <a:p>
            <a:pPr algn="l"/>
            <a:r>
              <a:rPr sz="800" b="0" i="0">
                <a:solidFill>
                  <a:srgbClr val="10B981"/>
                </a:solidFill>
              </a:rPr>
              <a:t>👍 9,914</a:t>
            </a:r>
          </a:p>
        </p:txBody>
      </p:sp>
      <p:sp>
        <p:nvSpPr>
          <p:cNvPr id="32" name="Rectangle 31"/>
          <p:cNvSpPr/>
          <p:nvPr/>
        </p:nvSpPr>
        <p:spPr>
          <a:xfrm>
            <a:off x="2148839" y="466344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4709159"/>
            <a:ext cx="1417320" cy="640080"/>
          </a:xfrm>
          <a:prstGeom prst="rect">
            <a:avLst/>
          </a:prstGeom>
          <a:noFill/>
        </p:spPr>
        <p:txBody>
          <a:bodyPr wrap="square">
            <a:spAutoFit/>
          </a:bodyPr>
          <a:lstStyle/>
          <a:p>
            <a:pPr algn="l"/>
            <a:r>
              <a:rPr sz="800" b="0" i="0">
                <a:solidFill>
                  <a:srgbClr val="FFFFFF"/>
                </a:solidFill>
              </a:rPr>
              <a:t>Watch Annie Choi turn her sketch into a fashi...</a:t>
            </a:r>
          </a:p>
        </p:txBody>
      </p:sp>
      <p:sp>
        <p:nvSpPr>
          <p:cNvPr id="34" name="TextBox 33"/>
          <p:cNvSpPr txBox="1"/>
          <p:nvPr/>
        </p:nvSpPr>
        <p:spPr>
          <a:xfrm>
            <a:off x="2194560" y="5349240"/>
            <a:ext cx="1417320" cy="274320"/>
          </a:xfrm>
          <a:prstGeom prst="rect">
            <a:avLst/>
          </a:prstGeom>
          <a:noFill/>
        </p:spPr>
        <p:txBody>
          <a:bodyPr wrap="square">
            <a:spAutoFit/>
          </a:bodyPr>
          <a:lstStyle/>
          <a:p>
            <a:pPr algn="l"/>
            <a:r>
              <a:rPr sz="800" b="0" i="0">
                <a:solidFill>
                  <a:srgbClr val="3B82F6"/>
                </a:solidFill>
              </a:rPr>
              <a:t>👁 708,798</a:t>
            </a:r>
          </a:p>
        </p:txBody>
      </p:sp>
      <p:sp>
        <p:nvSpPr>
          <p:cNvPr id="35" name="TextBox 34"/>
          <p:cNvSpPr txBox="1"/>
          <p:nvPr/>
        </p:nvSpPr>
        <p:spPr>
          <a:xfrm>
            <a:off x="2194560" y="5623559"/>
            <a:ext cx="1417320" cy="274320"/>
          </a:xfrm>
          <a:prstGeom prst="rect">
            <a:avLst/>
          </a:prstGeom>
          <a:noFill/>
        </p:spPr>
        <p:txBody>
          <a:bodyPr wrap="square">
            <a:spAutoFit/>
          </a:bodyPr>
          <a:lstStyle/>
          <a:p>
            <a:pPr algn="l"/>
            <a:r>
              <a:rPr sz="800" b="0" i="0">
                <a:solidFill>
                  <a:srgbClr val="10B981"/>
                </a:solidFill>
              </a:rPr>
              <a:t>👍 2,785</a:t>
            </a:r>
          </a:p>
        </p:txBody>
      </p:sp>
      <p:sp>
        <p:nvSpPr>
          <p:cNvPr id="36" name="Rectangle 35"/>
          <p:cNvSpPr/>
          <p:nvPr/>
        </p:nvSpPr>
        <p:spPr>
          <a:xfrm>
            <a:off x="3749039"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49039" y="914400"/>
            <a:ext cx="155448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79" y="1051560"/>
            <a:ext cx="1463040" cy="365760"/>
          </a:xfrm>
          <a:prstGeom prst="rect">
            <a:avLst/>
          </a:prstGeom>
          <a:noFill/>
        </p:spPr>
        <p:txBody>
          <a:bodyPr wrap="square">
            <a:spAutoFit/>
          </a:bodyPr>
          <a:lstStyle/>
          <a:p>
            <a:pPr algn="l"/>
            <a:r>
              <a:rPr sz="1200" b="1" i="0">
                <a:solidFill>
                  <a:srgbClr val="F59E0B"/>
                </a:solidFill>
              </a:rPr>
              <a:t>Microsoft</a:t>
            </a:r>
          </a:p>
        </p:txBody>
      </p:sp>
      <p:sp>
        <p:nvSpPr>
          <p:cNvPr id="39" name="Rectangle 38"/>
          <p:cNvSpPr/>
          <p:nvPr/>
        </p:nvSpPr>
        <p:spPr>
          <a:xfrm>
            <a:off x="3794759" y="155448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40479" y="1600200"/>
            <a:ext cx="1417320" cy="640080"/>
          </a:xfrm>
          <a:prstGeom prst="rect">
            <a:avLst/>
          </a:prstGeom>
          <a:noFill/>
        </p:spPr>
        <p:txBody>
          <a:bodyPr wrap="square">
            <a:spAutoFit/>
          </a:bodyPr>
          <a:lstStyle/>
          <a:p>
            <a:pPr algn="l"/>
            <a:r>
              <a:rPr sz="800" b="0" i="0">
                <a:solidFill>
                  <a:srgbClr val="FFFFFF"/>
                </a:solidFill>
              </a:rPr>
              <a:t>Microsoft Excel Elevator Ad (1990s)</a:t>
            </a:r>
          </a:p>
        </p:txBody>
      </p:sp>
      <p:sp>
        <p:nvSpPr>
          <p:cNvPr id="41" name="TextBox 40"/>
          <p:cNvSpPr txBox="1"/>
          <p:nvPr/>
        </p:nvSpPr>
        <p:spPr>
          <a:xfrm>
            <a:off x="3840479" y="2240280"/>
            <a:ext cx="1417320" cy="274320"/>
          </a:xfrm>
          <a:prstGeom prst="rect">
            <a:avLst/>
          </a:prstGeom>
          <a:noFill/>
        </p:spPr>
        <p:txBody>
          <a:bodyPr wrap="square">
            <a:spAutoFit/>
          </a:bodyPr>
          <a:lstStyle/>
          <a:p>
            <a:pPr algn="l"/>
            <a:r>
              <a:rPr sz="800" b="0" i="0">
                <a:solidFill>
                  <a:srgbClr val="3B82F6"/>
                </a:solidFill>
              </a:rPr>
              <a:t>👁 22,307</a:t>
            </a:r>
          </a:p>
        </p:txBody>
      </p:sp>
      <p:sp>
        <p:nvSpPr>
          <p:cNvPr id="42" name="TextBox 41"/>
          <p:cNvSpPr txBox="1"/>
          <p:nvPr/>
        </p:nvSpPr>
        <p:spPr>
          <a:xfrm>
            <a:off x="3840479" y="2514600"/>
            <a:ext cx="1417320" cy="274320"/>
          </a:xfrm>
          <a:prstGeom prst="rect">
            <a:avLst/>
          </a:prstGeom>
          <a:noFill/>
        </p:spPr>
        <p:txBody>
          <a:bodyPr wrap="square">
            <a:spAutoFit/>
          </a:bodyPr>
          <a:lstStyle/>
          <a:p>
            <a:pPr algn="l"/>
            <a:r>
              <a:rPr sz="800" b="0" i="0">
                <a:solidFill>
                  <a:srgbClr val="10B981"/>
                </a:solidFill>
              </a:rPr>
              <a:t>👍 913</a:t>
            </a:r>
          </a:p>
        </p:txBody>
      </p:sp>
      <p:sp>
        <p:nvSpPr>
          <p:cNvPr id="43" name="Rectangle 42"/>
          <p:cNvSpPr/>
          <p:nvPr/>
        </p:nvSpPr>
        <p:spPr>
          <a:xfrm>
            <a:off x="3794759" y="310896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79" y="3154679"/>
            <a:ext cx="1417320" cy="640080"/>
          </a:xfrm>
          <a:prstGeom prst="rect">
            <a:avLst/>
          </a:prstGeom>
          <a:noFill/>
        </p:spPr>
        <p:txBody>
          <a:bodyPr wrap="square">
            <a:spAutoFit/>
          </a:bodyPr>
          <a:lstStyle/>
          <a:p>
            <a:pPr algn="l"/>
            <a:r>
              <a:rPr sz="800" b="0" i="0">
                <a:solidFill>
                  <a:srgbClr val="FFFFFF"/>
                </a:solidFill>
              </a:rPr>
              <a:t>A classic Excel ad just got a 2026 upgrade</a:t>
            </a:r>
          </a:p>
        </p:txBody>
      </p:sp>
      <p:sp>
        <p:nvSpPr>
          <p:cNvPr id="45" name="TextBox 44"/>
          <p:cNvSpPr txBox="1"/>
          <p:nvPr/>
        </p:nvSpPr>
        <p:spPr>
          <a:xfrm>
            <a:off x="3840479" y="3794760"/>
            <a:ext cx="1417320" cy="274320"/>
          </a:xfrm>
          <a:prstGeom prst="rect">
            <a:avLst/>
          </a:prstGeom>
          <a:noFill/>
        </p:spPr>
        <p:txBody>
          <a:bodyPr wrap="square">
            <a:spAutoFit/>
          </a:bodyPr>
          <a:lstStyle/>
          <a:p>
            <a:pPr algn="l"/>
            <a:r>
              <a:rPr sz="800" b="0" i="0">
                <a:solidFill>
                  <a:srgbClr val="3B82F6"/>
                </a:solidFill>
              </a:rPr>
              <a:t>👁 14,997</a:t>
            </a:r>
          </a:p>
        </p:txBody>
      </p:sp>
      <p:sp>
        <p:nvSpPr>
          <p:cNvPr id="46" name="TextBox 45"/>
          <p:cNvSpPr txBox="1"/>
          <p:nvPr/>
        </p:nvSpPr>
        <p:spPr>
          <a:xfrm>
            <a:off x="3840479" y="4069080"/>
            <a:ext cx="1417320" cy="274320"/>
          </a:xfrm>
          <a:prstGeom prst="rect">
            <a:avLst/>
          </a:prstGeom>
          <a:noFill/>
        </p:spPr>
        <p:txBody>
          <a:bodyPr wrap="square">
            <a:spAutoFit/>
          </a:bodyPr>
          <a:lstStyle/>
          <a:p>
            <a:pPr algn="l"/>
            <a:r>
              <a:rPr sz="800" b="0" i="0">
                <a:solidFill>
                  <a:srgbClr val="10B981"/>
                </a:solidFill>
              </a:rPr>
              <a:t>👍 564</a:t>
            </a:r>
          </a:p>
        </p:txBody>
      </p:sp>
      <p:sp>
        <p:nvSpPr>
          <p:cNvPr id="47" name="Rectangle 46"/>
          <p:cNvSpPr/>
          <p:nvPr/>
        </p:nvSpPr>
        <p:spPr>
          <a:xfrm>
            <a:off x="3794759" y="466344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40479" y="4709159"/>
            <a:ext cx="1417320" cy="640080"/>
          </a:xfrm>
          <a:prstGeom prst="rect">
            <a:avLst/>
          </a:prstGeom>
          <a:noFill/>
        </p:spPr>
        <p:txBody>
          <a:bodyPr wrap="square">
            <a:spAutoFit/>
          </a:bodyPr>
          <a:lstStyle/>
          <a:p>
            <a:pPr algn="l"/>
            <a:r>
              <a:rPr sz="800" b="0" i="0">
                <a:solidFill>
                  <a:srgbClr val="FFFFFF"/>
                </a:solidFill>
              </a:rPr>
              <a:t>When it comes to Excel, @DimEarly is in a dif...</a:t>
            </a:r>
          </a:p>
        </p:txBody>
      </p:sp>
      <p:sp>
        <p:nvSpPr>
          <p:cNvPr id="49" name="TextBox 48"/>
          <p:cNvSpPr txBox="1"/>
          <p:nvPr/>
        </p:nvSpPr>
        <p:spPr>
          <a:xfrm>
            <a:off x="3840479" y="5349240"/>
            <a:ext cx="1417320" cy="274320"/>
          </a:xfrm>
          <a:prstGeom prst="rect">
            <a:avLst/>
          </a:prstGeom>
          <a:noFill/>
        </p:spPr>
        <p:txBody>
          <a:bodyPr wrap="square">
            <a:spAutoFit/>
          </a:bodyPr>
          <a:lstStyle/>
          <a:p>
            <a:pPr algn="l"/>
            <a:r>
              <a:rPr sz="800" b="0" i="0">
                <a:solidFill>
                  <a:srgbClr val="3B82F6"/>
                </a:solidFill>
              </a:rPr>
              <a:t>👁 11,549</a:t>
            </a:r>
          </a:p>
        </p:txBody>
      </p:sp>
      <p:sp>
        <p:nvSpPr>
          <p:cNvPr id="50" name="TextBox 49"/>
          <p:cNvSpPr txBox="1"/>
          <p:nvPr/>
        </p:nvSpPr>
        <p:spPr>
          <a:xfrm>
            <a:off x="3840479" y="5623559"/>
            <a:ext cx="1417320" cy="274320"/>
          </a:xfrm>
          <a:prstGeom prst="rect">
            <a:avLst/>
          </a:prstGeom>
          <a:noFill/>
        </p:spPr>
        <p:txBody>
          <a:bodyPr wrap="square">
            <a:spAutoFit/>
          </a:bodyPr>
          <a:lstStyle/>
          <a:p>
            <a:pPr algn="l"/>
            <a:r>
              <a:rPr sz="800" b="0" i="0">
                <a:solidFill>
                  <a:srgbClr val="10B981"/>
                </a:solidFill>
              </a:rPr>
              <a:t>👍 402</a:t>
            </a:r>
          </a:p>
        </p:txBody>
      </p:sp>
      <p:sp>
        <p:nvSpPr>
          <p:cNvPr id="51" name="Rectangle 50"/>
          <p:cNvSpPr/>
          <p:nvPr/>
        </p:nvSpPr>
        <p:spPr>
          <a:xfrm>
            <a:off x="539496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94960" y="914400"/>
            <a:ext cx="1554480"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0" y="1051560"/>
            <a:ext cx="1463040" cy="365760"/>
          </a:xfrm>
          <a:prstGeom prst="rect">
            <a:avLst/>
          </a:prstGeom>
          <a:noFill/>
        </p:spPr>
        <p:txBody>
          <a:bodyPr wrap="square">
            <a:spAutoFit/>
          </a:bodyPr>
          <a:lstStyle/>
          <a:p>
            <a:pPr algn="l"/>
            <a:r>
              <a:rPr sz="1200" b="1" i="0">
                <a:solidFill>
                  <a:srgbClr val="EF4444"/>
                </a:solidFill>
              </a:rPr>
              <a:t>Meta</a:t>
            </a:r>
          </a:p>
        </p:txBody>
      </p:sp>
      <p:sp>
        <p:nvSpPr>
          <p:cNvPr id="54" name="Rectangle 53"/>
          <p:cNvSpPr/>
          <p:nvPr/>
        </p:nvSpPr>
        <p:spPr>
          <a:xfrm>
            <a:off x="5440680" y="155448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0" y="1600200"/>
            <a:ext cx="1417320" cy="640080"/>
          </a:xfrm>
          <a:prstGeom prst="rect">
            <a:avLst/>
          </a:prstGeom>
          <a:noFill/>
        </p:spPr>
        <p:txBody>
          <a:bodyPr wrap="square">
            <a:spAutoFit/>
          </a:bodyPr>
          <a:lstStyle/>
          <a:p>
            <a:pPr algn="l"/>
            <a:r>
              <a:rPr sz="800" b="0" i="0">
                <a:solidFill>
                  <a:srgbClr val="FFFFFF"/>
                </a:solidFill>
              </a:rPr>
              <a:t>Плохие новсти Fc Mobile! #fcmobile #фкмобайл ...</a:t>
            </a:r>
          </a:p>
        </p:txBody>
      </p:sp>
      <p:sp>
        <p:nvSpPr>
          <p:cNvPr id="56" name="TextBox 55"/>
          <p:cNvSpPr txBox="1"/>
          <p:nvPr/>
        </p:nvSpPr>
        <p:spPr>
          <a:xfrm>
            <a:off x="5486400" y="2240280"/>
            <a:ext cx="1417320" cy="274320"/>
          </a:xfrm>
          <a:prstGeom prst="rect">
            <a:avLst/>
          </a:prstGeom>
          <a:noFill/>
        </p:spPr>
        <p:txBody>
          <a:bodyPr wrap="square">
            <a:spAutoFit/>
          </a:bodyPr>
          <a:lstStyle/>
          <a:p>
            <a:pPr algn="l"/>
            <a:r>
              <a:rPr sz="800" b="0" i="0">
                <a:solidFill>
                  <a:srgbClr val="3B82F6"/>
                </a:solidFill>
              </a:rPr>
              <a:t>👁 26,972</a:t>
            </a:r>
          </a:p>
        </p:txBody>
      </p:sp>
      <p:sp>
        <p:nvSpPr>
          <p:cNvPr id="57" name="TextBox 56"/>
          <p:cNvSpPr txBox="1"/>
          <p:nvPr/>
        </p:nvSpPr>
        <p:spPr>
          <a:xfrm>
            <a:off x="5486400" y="2514600"/>
            <a:ext cx="1417320" cy="274320"/>
          </a:xfrm>
          <a:prstGeom prst="rect">
            <a:avLst/>
          </a:prstGeom>
          <a:noFill/>
        </p:spPr>
        <p:txBody>
          <a:bodyPr wrap="square">
            <a:spAutoFit/>
          </a:bodyPr>
          <a:lstStyle/>
          <a:p>
            <a:pPr algn="l"/>
            <a:r>
              <a:rPr sz="800" b="0" i="0">
                <a:solidFill>
                  <a:srgbClr val="10B981"/>
                </a:solidFill>
              </a:rPr>
              <a:t>👍 1,226</a:t>
            </a:r>
          </a:p>
        </p:txBody>
      </p:sp>
      <p:sp>
        <p:nvSpPr>
          <p:cNvPr id="58" name="Rectangle 57"/>
          <p:cNvSpPr/>
          <p:nvPr/>
        </p:nvSpPr>
        <p:spPr>
          <a:xfrm>
            <a:off x="5440680" y="310896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0" y="3154679"/>
            <a:ext cx="1417320" cy="640080"/>
          </a:xfrm>
          <a:prstGeom prst="rect">
            <a:avLst/>
          </a:prstGeom>
          <a:noFill/>
        </p:spPr>
        <p:txBody>
          <a:bodyPr wrap="square">
            <a:spAutoFit/>
          </a:bodyPr>
          <a:lstStyle/>
          <a:p>
            <a:pPr algn="l"/>
            <a:r>
              <a:rPr sz="800" b="0" i="0">
                <a:solidFill>
                  <a:srgbClr val="FFFFFF"/>
                </a:solidFill>
              </a:rPr>
              <a:t>Обзор на Дембеле Fc Mobile! #fcmobile #фкмоба...</a:t>
            </a:r>
          </a:p>
        </p:txBody>
      </p:sp>
      <p:sp>
        <p:nvSpPr>
          <p:cNvPr id="60" name="TextBox 59"/>
          <p:cNvSpPr txBox="1"/>
          <p:nvPr/>
        </p:nvSpPr>
        <p:spPr>
          <a:xfrm>
            <a:off x="5486400" y="3794760"/>
            <a:ext cx="1417320" cy="274320"/>
          </a:xfrm>
          <a:prstGeom prst="rect">
            <a:avLst/>
          </a:prstGeom>
          <a:noFill/>
        </p:spPr>
        <p:txBody>
          <a:bodyPr wrap="square">
            <a:spAutoFit/>
          </a:bodyPr>
          <a:lstStyle/>
          <a:p>
            <a:pPr algn="l"/>
            <a:r>
              <a:rPr sz="800" b="0" i="0">
                <a:solidFill>
                  <a:srgbClr val="3B82F6"/>
                </a:solidFill>
              </a:rPr>
              <a:t>👁 21,458</a:t>
            </a:r>
          </a:p>
        </p:txBody>
      </p:sp>
      <p:sp>
        <p:nvSpPr>
          <p:cNvPr id="61" name="TextBox 60"/>
          <p:cNvSpPr txBox="1"/>
          <p:nvPr/>
        </p:nvSpPr>
        <p:spPr>
          <a:xfrm>
            <a:off x="5486400" y="4069080"/>
            <a:ext cx="1417320" cy="274320"/>
          </a:xfrm>
          <a:prstGeom prst="rect">
            <a:avLst/>
          </a:prstGeom>
          <a:noFill/>
        </p:spPr>
        <p:txBody>
          <a:bodyPr wrap="square">
            <a:spAutoFit/>
          </a:bodyPr>
          <a:lstStyle/>
          <a:p>
            <a:pPr algn="l"/>
            <a:r>
              <a:rPr sz="800" b="0" i="0">
                <a:solidFill>
                  <a:srgbClr val="10B981"/>
                </a:solidFill>
              </a:rPr>
              <a:t>👍 987</a:t>
            </a:r>
          </a:p>
        </p:txBody>
      </p:sp>
      <p:sp>
        <p:nvSpPr>
          <p:cNvPr id="62" name="Rectangle 61"/>
          <p:cNvSpPr/>
          <p:nvPr/>
        </p:nvSpPr>
        <p:spPr>
          <a:xfrm>
            <a:off x="5440680" y="466344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0" y="4709159"/>
            <a:ext cx="1417320" cy="640080"/>
          </a:xfrm>
          <a:prstGeom prst="rect">
            <a:avLst/>
          </a:prstGeom>
          <a:noFill/>
        </p:spPr>
        <p:txBody>
          <a:bodyPr wrap="square">
            <a:spAutoFit/>
          </a:bodyPr>
          <a:lstStyle/>
          <a:p>
            <a:pPr algn="l"/>
            <a:r>
              <a:rPr sz="800" b="0" i="0">
                <a:solidFill>
                  <a:srgbClr val="FFFFFF"/>
                </a:solidFill>
              </a:rPr>
              <a:t>Срочные Новости FcMobile!5 дневыне Задания!#ф...</a:t>
            </a:r>
          </a:p>
        </p:txBody>
      </p:sp>
      <p:sp>
        <p:nvSpPr>
          <p:cNvPr id="64" name="TextBox 63"/>
          <p:cNvSpPr txBox="1"/>
          <p:nvPr/>
        </p:nvSpPr>
        <p:spPr>
          <a:xfrm>
            <a:off x="5486400" y="5349240"/>
            <a:ext cx="1417320" cy="274320"/>
          </a:xfrm>
          <a:prstGeom prst="rect">
            <a:avLst/>
          </a:prstGeom>
          <a:noFill/>
        </p:spPr>
        <p:txBody>
          <a:bodyPr wrap="square">
            <a:spAutoFit/>
          </a:bodyPr>
          <a:lstStyle/>
          <a:p>
            <a:pPr algn="l"/>
            <a:r>
              <a:rPr sz="800" b="0" i="0">
                <a:solidFill>
                  <a:srgbClr val="3B82F6"/>
                </a:solidFill>
              </a:rPr>
              <a:t>👁 21,075</a:t>
            </a:r>
          </a:p>
        </p:txBody>
      </p:sp>
      <p:sp>
        <p:nvSpPr>
          <p:cNvPr id="65" name="TextBox 64"/>
          <p:cNvSpPr txBox="1"/>
          <p:nvPr/>
        </p:nvSpPr>
        <p:spPr>
          <a:xfrm>
            <a:off x="5486400" y="5623559"/>
            <a:ext cx="1417320" cy="274320"/>
          </a:xfrm>
          <a:prstGeom prst="rect">
            <a:avLst/>
          </a:prstGeom>
          <a:noFill/>
        </p:spPr>
        <p:txBody>
          <a:bodyPr wrap="square">
            <a:spAutoFit/>
          </a:bodyPr>
          <a:lstStyle/>
          <a:p>
            <a:pPr algn="l"/>
            <a:r>
              <a:rPr sz="800" b="0" i="0">
                <a:solidFill>
                  <a:srgbClr val="10B981"/>
                </a:solidFill>
              </a:rPr>
              <a:t>👍 1,388</a:t>
            </a:r>
          </a:p>
        </p:txBody>
      </p:sp>
      <p:sp>
        <p:nvSpPr>
          <p:cNvPr id="66" name="Rectangle 65"/>
          <p:cNvSpPr/>
          <p:nvPr/>
        </p:nvSpPr>
        <p:spPr>
          <a:xfrm>
            <a:off x="704088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040880" y="914400"/>
            <a:ext cx="1554480" cy="9144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132320" y="1051560"/>
            <a:ext cx="1463040" cy="365760"/>
          </a:xfrm>
          <a:prstGeom prst="rect">
            <a:avLst/>
          </a:prstGeom>
          <a:noFill/>
        </p:spPr>
        <p:txBody>
          <a:bodyPr wrap="square">
            <a:spAutoFit/>
          </a:bodyPr>
          <a:lstStyle/>
          <a:p>
            <a:pPr algn="l"/>
            <a:r>
              <a:rPr sz="1200" b="1" i="0">
                <a:solidFill>
                  <a:srgbClr val="A855F7"/>
                </a:solidFill>
              </a:rPr>
              <a:t>Amazon</a:t>
            </a:r>
          </a:p>
        </p:txBody>
      </p:sp>
      <p:sp>
        <p:nvSpPr>
          <p:cNvPr id="69" name="Rectangle 68"/>
          <p:cNvSpPr/>
          <p:nvPr/>
        </p:nvSpPr>
        <p:spPr>
          <a:xfrm>
            <a:off x="7086600" y="155448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32320" y="1600200"/>
            <a:ext cx="1417320" cy="640080"/>
          </a:xfrm>
          <a:prstGeom prst="rect">
            <a:avLst/>
          </a:prstGeom>
          <a:noFill/>
        </p:spPr>
        <p:txBody>
          <a:bodyPr wrap="square">
            <a:spAutoFit/>
          </a:bodyPr>
          <a:lstStyle/>
          <a:p>
            <a:pPr algn="l"/>
            <a:r>
              <a:rPr sz="800" b="0" i="0">
                <a:solidFill>
                  <a:srgbClr val="FFFFFF"/>
                </a:solidFill>
              </a:rPr>
              <a:t>Qué suerte tuvimos de crecer viendo a Roger F...</a:t>
            </a:r>
          </a:p>
        </p:txBody>
      </p:sp>
      <p:sp>
        <p:nvSpPr>
          <p:cNvPr id="71" name="TextBox 70"/>
          <p:cNvSpPr txBox="1"/>
          <p:nvPr/>
        </p:nvSpPr>
        <p:spPr>
          <a:xfrm>
            <a:off x="7132320" y="2240280"/>
            <a:ext cx="1417320" cy="274320"/>
          </a:xfrm>
          <a:prstGeom prst="rect">
            <a:avLst/>
          </a:prstGeom>
          <a:noFill/>
        </p:spPr>
        <p:txBody>
          <a:bodyPr wrap="square">
            <a:spAutoFit/>
          </a:bodyPr>
          <a:lstStyle/>
          <a:p>
            <a:pPr algn="l"/>
            <a:r>
              <a:rPr sz="800" b="0" i="0">
                <a:solidFill>
                  <a:srgbClr val="3B82F6"/>
                </a:solidFill>
              </a:rPr>
              <a:t>👁 8,674</a:t>
            </a:r>
          </a:p>
        </p:txBody>
      </p:sp>
      <p:sp>
        <p:nvSpPr>
          <p:cNvPr id="72" name="TextBox 71"/>
          <p:cNvSpPr txBox="1"/>
          <p:nvPr/>
        </p:nvSpPr>
        <p:spPr>
          <a:xfrm>
            <a:off x="7132320" y="2514600"/>
            <a:ext cx="1417320" cy="274320"/>
          </a:xfrm>
          <a:prstGeom prst="rect">
            <a:avLst/>
          </a:prstGeom>
          <a:noFill/>
        </p:spPr>
        <p:txBody>
          <a:bodyPr wrap="square">
            <a:spAutoFit/>
          </a:bodyPr>
          <a:lstStyle/>
          <a:p>
            <a:pPr algn="l"/>
            <a:r>
              <a:rPr sz="800" b="0" i="0">
                <a:solidFill>
                  <a:srgbClr val="10B981"/>
                </a:solidFill>
              </a:rPr>
              <a:t>👍 124</a:t>
            </a:r>
          </a:p>
        </p:txBody>
      </p:sp>
      <p:sp>
        <p:nvSpPr>
          <p:cNvPr id="73" name="Rectangle 72"/>
          <p:cNvSpPr/>
          <p:nvPr/>
        </p:nvSpPr>
        <p:spPr>
          <a:xfrm>
            <a:off x="7086600" y="310896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132320" y="3154679"/>
            <a:ext cx="1417320" cy="640080"/>
          </a:xfrm>
          <a:prstGeom prst="rect">
            <a:avLst/>
          </a:prstGeom>
          <a:noFill/>
        </p:spPr>
        <p:txBody>
          <a:bodyPr wrap="square">
            <a:spAutoFit/>
          </a:bodyPr>
          <a:lstStyle/>
          <a:p>
            <a:pPr algn="l"/>
            <a:r>
              <a:rPr sz="800" b="0" i="0">
                <a:solidFill>
                  <a:srgbClr val="FFFFFF"/>
                </a:solidFill>
              </a:rPr>
              <a:t>Mi estabilidad emocional depende de fingir qu...</a:t>
            </a:r>
          </a:p>
        </p:txBody>
      </p:sp>
      <p:sp>
        <p:nvSpPr>
          <p:cNvPr id="75" name="TextBox 74"/>
          <p:cNvSpPr txBox="1"/>
          <p:nvPr/>
        </p:nvSpPr>
        <p:spPr>
          <a:xfrm>
            <a:off x="7132320" y="3794760"/>
            <a:ext cx="1417320" cy="274320"/>
          </a:xfrm>
          <a:prstGeom prst="rect">
            <a:avLst/>
          </a:prstGeom>
          <a:noFill/>
        </p:spPr>
        <p:txBody>
          <a:bodyPr wrap="square">
            <a:spAutoFit/>
          </a:bodyPr>
          <a:lstStyle/>
          <a:p>
            <a:pPr algn="l"/>
            <a:r>
              <a:rPr sz="800" b="0" i="0">
                <a:solidFill>
                  <a:srgbClr val="3B82F6"/>
                </a:solidFill>
              </a:rPr>
              <a:t>👁 7,949</a:t>
            </a:r>
          </a:p>
        </p:txBody>
      </p:sp>
      <p:sp>
        <p:nvSpPr>
          <p:cNvPr id="76" name="TextBox 75"/>
          <p:cNvSpPr txBox="1"/>
          <p:nvPr/>
        </p:nvSpPr>
        <p:spPr>
          <a:xfrm>
            <a:off x="7132320" y="4069080"/>
            <a:ext cx="1417320" cy="274320"/>
          </a:xfrm>
          <a:prstGeom prst="rect">
            <a:avLst/>
          </a:prstGeom>
          <a:noFill/>
        </p:spPr>
        <p:txBody>
          <a:bodyPr wrap="square">
            <a:spAutoFit/>
          </a:bodyPr>
          <a:lstStyle/>
          <a:p>
            <a:pPr algn="l"/>
            <a:r>
              <a:rPr sz="800" b="0" i="0">
                <a:solidFill>
                  <a:srgbClr val="10B981"/>
                </a:solidFill>
              </a:rPr>
              <a:t>👍 112</a:t>
            </a:r>
          </a:p>
        </p:txBody>
      </p:sp>
      <p:sp>
        <p:nvSpPr>
          <p:cNvPr id="77" name="Rectangle 76"/>
          <p:cNvSpPr/>
          <p:nvPr/>
        </p:nvSpPr>
        <p:spPr>
          <a:xfrm>
            <a:off x="7086600" y="4663440"/>
            <a:ext cx="1463040" cy="137160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132320" y="4709159"/>
            <a:ext cx="1417320" cy="640080"/>
          </a:xfrm>
          <a:prstGeom prst="rect">
            <a:avLst/>
          </a:prstGeom>
          <a:noFill/>
        </p:spPr>
        <p:txBody>
          <a:bodyPr wrap="square">
            <a:spAutoFit/>
          </a:bodyPr>
          <a:lstStyle/>
          <a:p>
            <a:pPr algn="l"/>
            <a:r>
              <a:rPr sz="800" b="0" i="0">
                <a:solidFill>
                  <a:srgbClr val="FFFFFF"/>
                </a:solidFill>
              </a:rPr>
              <a:t>Comprobado está que no todo es lo que parece,...</a:t>
            </a:r>
          </a:p>
        </p:txBody>
      </p:sp>
      <p:sp>
        <p:nvSpPr>
          <p:cNvPr id="79" name="TextBox 78"/>
          <p:cNvSpPr txBox="1"/>
          <p:nvPr/>
        </p:nvSpPr>
        <p:spPr>
          <a:xfrm>
            <a:off x="7132320" y="5349240"/>
            <a:ext cx="1417320" cy="274320"/>
          </a:xfrm>
          <a:prstGeom prst="rect">
            <a:avLst/>
          </a:prstGeom>
          <a:noFill/>
        </p:spPr>
        <p:txBody>
          <a:bodyPr wrap="square">
            <a:spAutoFit/>
          </a:bodyPr>
          <a:lstStyle/>
          <a:p>
            <a:pPr algn="l"/>
            <a:r>
              <a:rPr sz="800" b="0" i="0">
                <a:solidFill>
                  <a:srgbClr val="3B82F6"/>
                </a:solidFill>
              </a:rPr>
              <a:t>👁 7,614</a:t>
            </a:r>
          </a:p>
        </p:txBody>
      </p:sp>
      <p:sp>
        <p:nvSpPr>
          <p:cNvPr id="80" name="TextBox 79"/>
          <p:cNvSpPr txBox="1"/>
          <p:nvPr/>
        </p:nvSpPr>
        <p:spPr>
          <a:xfrm>
            <a:off x="7132320" y="5623559"/>
            <a:ext cx="1417320" cy="274320"/>
          </a:xfrm>
          <a:prstGeom prst="rect">
            <a:avLst/>
          </a:prstGeom>
          <a:noFill/>
        </p:spPr>
        <p:txBody>
          <a:bodyPr wrap="square">
            <a:spAutoFit/>
          </a:bodyPr>
          <a:lstStyle/>
          <a:p>
            <a:pPr algn="l"/>
            <a:r>
              <a:rPr sz="800" b="0" i="0">
                <a:solidFill>
                  <a:srgbClr val="10B981"/>
                </a:solidFill>
              </a:rPr>
              <a:t>👍 188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05</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800" b="1" i="0">
                <a:solidFill>
                  <a:srgbClr val="FFFFFF"/>
                </a:solidFill>
              </a:rPr>
              <a:t>ENGAGEMENT ANALYSIS</a:t>
            </a:r>
          </a:p>
        </p:txBody>
      </p:sp>
      <p:sp>
        <p:nvSpPr>
          <p:cNvPr id="5" name="Rectangle 4"/>
          <p:cNvSpPr/>
          <p:nvPr/>
        </p:nvSpPr>
        <p:spPr>
          <a:xfrm>
            <a:off x="457200" y="777240"/>
            <a:ext cx="82296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14400"/>
            <a:ext cx="1554480" cy="91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1463040" cy="365760"/>
          </a:xfrm>
          <a:prstGeom prst="rect">
            <a:avLst/>
          </a:prstGeom>
          <a:noFill/>
        </p:spPr>
        <p:txBody>
          <a:bodyPr wrap="square">
            <a:spAutoFit/>
          </a:bodyPr>
          <a:lstStyle/>
          <a:p>
            <a:pPr algn="l"/>
            <a:r>
              <a:rPr sz="1200" b="1" i="0">
                <a:solidFill>
                  <a:srgbClr val="3B82F6"/>
                </a:solidFill>
              </a:rPr>
              <a:t>Google</a:t>
            </a:r>
          </a:p>
        </p:txBody>
      </p:sp>
      <p:sp>
        <p:nvSpPr>
          <p:cNvPr id="9" name="Rectangle 8"/>
          <p:cNvSpPr/>
          <p:nvPr/>
        </p:nvSpPr>
        <p:spPr>
          <a:xfrm>
            <a:off x="548640" y="164592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37360"/>
            <a:ext cx="1325880" cy="274320"/>
          </a:xfrm>
          <a:prstGeom prst="rect">
            <a:avLst/>
          </a:prstGeom>
          <a:noFill/>
        </p:spPr>
        <p:txBody>
          <a:bodyPr wrap="square">
            <a:spAutoFit/>
          </a:bodyPr>
          <a:lstStyle/>
          <a:p>
            <a:pPr algn="l"/>
            <a:r>
              <a:rPr sz="800" b="1" i="0">
                <a:solidFill>
                  <a:srgbClr val="94A3B8"/>
                </a:solidFill>
              </a:rPr>
              <a:t>AVG VIEWS</a:t>
            </a:r>
          </a:p>
        </p:txBody>
      </p:sp>
      <p:sp>
        <p:nvSpPr>
          <p:cNvPr id="11" name="TextBox 10"/>
          <p:cNvSpPr txBox="1"/>
          <p:nvPr/>
        </p:nvSpPr>
        <p:spPr>
          <a:xfrm>
            <a:off x="594360" y="2057400"/>
            <a:ext cx="1325880" cy="548640"/>
          </a:xfrm>
          <a:prstGeom prst="rect">
            <a:avLst/>
          </a:prstGeom>
          <a:noFill/>
        </p:spPr>
        <p:txBody>
          <a:bodyPr wrap="square">
            <a:spAutoFit/>
          </a:bodyPr>
          <a:lstStyle/>
          <a:p>
            <a:pPr algn="l"/>
            <a:r>
              <a:rPr sz="1800" b="1" i="0">
                <a:solidFill>
                  <a:srgbClr val="3B82F6"/>
                </a:solidFill>
              </a:rPr>
              <a:t>5,587</a:t>
            </a:r>
          </a:p>
        </p:txBody>
      </p:sp>
      <p:sp>
        <p:nvSpPr>
          <p:cNvPr id="12" name="Rectangle 11"/>
          <p:cNvSpPr/>
          <p:nvPr/>
        </p:nvSpPr>
        <p:spPr>
          <a:xfrm>
            <a:off x="548640" y="310896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200400"/>
            <a:ext cx="1325880" cy="274320"/>
          </a:xfrm>
          <a:prstGeom prst="rect">
            <a:avLst/>
          </a:prstGeom>
          <a:noFill/>
        </p:spPr>
        <p:txBody>
          <a:bodyPr wrap="square">
            <a:spAutoFit/>
          </a:bodyPr>
          <a:lstStyle/>
          <a:p>
            <a:pPr algn="l"/>
            <a:r>
              <a:rPr sz="800" b="1" i="0">
                <a:solidFill>
                  <a:srgbClr val="94A3B8"/>
                </a:solidFill>
              </a:rPr>
              <a:t>AVG LIKES</a:t>
            </a:r>
          </a:p>
        </p:txBody>
      </p:sp>
      <p:sp>
        <p:nvSpPr>
          <p:cNvPr id="14" name="TextBox 13"/>
          <p:cNvSpPr txBox="1"/>
          <p:nvPr/>
        </p:nvSpPr>
        <p:spPr>
          <a:xfrm>
            <a:off x="594360" y="3520440"/>
            <a:ext cx="1325880" cy="548640"/>
          </a:xfrm>
          <a:prstGeom prst="rect">
            <a:avLst/>
          </a:prstGeom>
          <a:noFill/>
        </p:spPr>
        <p:txBody>
          <a:bodyPr wrap="square">
            <a:spAutoFit/>
          </a:bodyPr>
          <a:lstStyle/>
          <a:p>
            <a:pPr algn="l"/>
            <a:r>
              <a:rPr sz="1800" b="1" i="0">
                <a:solidFill>
                  <a:srgbClr val="10B981"/>
                </a:solidFill>
              </a:rPr>
              <a:t>169</a:t>
            </a:r>
          </a:p>
        </p:txBody>
      </p:sp>
      <p:sp>
        <p:nvSpPr>
          <p:cNvPr id="15" name="Rectangle 14"/>
          <p:cNvSpPr/>
          <p:nvPr/>
        </p:nvSpPr>
        <p:spPr>
          <a:xfrm>
            <a:off x="548640" y="457200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663440"/>
            <a:ext cx="1325880" cy="274320"/>
          </a:xfrm>
          <a:prstGeom prst="rect">
            <a:avLst/>
          </a:prstGeom>
          <a:noFill/>
        </p:spPr>
        <p:txBody>
          <a:bodyPr wrap="square">
            <a:spAutoFit/>
          </a:bodyPr>
          <a:lstStyle/>
          <a:p>
            <a:pPr algn="l"/>
            <a:r>
              <a:rPr sz="800" b="1" i="0">
                <a:solidFill>
                  <a:srgbClr val="94A3B8"/>
                </a:solidFill>
              </a:rPr>
              <a:t>AVG COMMENTS</a:t>
            </a:r>
          </a:p>
        </p:txBody>
      </p:sp>
      <p:sp>
        <p:nvSpPr>
          <p:cNvPr id="17" name="TextBox 16"/>
          <p:cNvSpPr txBox="1"/>
          <p:nvPr/>
        </p:nvSpPr>
        <p:spPr>
          <a:xfrm>
            <a:off x="594360" y="4983480"/>
            <a:ext cx="1325880" cy="548640"/>
          </a:xfrm>
          <a:prstGeom prst="rect">
            <a:avLst/>
          </a:prstGeom>
          <a:noFill/>
        </p:spPr>
        <p:txBody>
          <a:bodyPr wrap="square">
            <a:spAutoFit/>
          </a:bodyPr>
          <a:lstStyle/>
          <a:p>
            <a:pPr algn="l"/>
            <a:r>
              <a:rPr sz="1800" b="1" i="0">
                <a:solidFill>
                  <a:srgbClr val="F59E0B"/>
                </a:solidFill>
              </a:rPr>
              <a:t>10</a:t>
            </a:r>
          </a:p>
        </p:txBody>
      </p:sp>
      <p:sp>
        <p:nvSpPr>
          <p:cNvPr id="18" name="TextBox 17"/>
          <p:cNvSpPr txBox="1"/>
          <p:nvPr/>
        </p:nvSpPr>
        <p:spPr>
          <a:xfrm>
            <a:off x="548640" y="6035040"/>
            <a:ext cx="1463040" cy="274320"/>
          </a:xfrm>
          <a:prstGeom prst="rect">
            <a:avLst/>
          </a:prstGeom>
          <a:noFill/>
        </p:spPr>
        <p:txBody>
          <a:bodyPr wrap="square">
            <a:spAutoFit/>
          </a:bodyPr>
          <a:lstStyle/>
          <a:p>
            <a:pPr algn="l"/>
            <a:r>
              <a:rPr sz="800" b="0" i="0">
                <a:solidFill>
                  <a:srgbClr val="94A3B8"/>
                </a:solidFill>
              </a:rPr>
              <a:t>Top: 16,422 views</a:t>
            </a:r>
          </a:p>
        </p:txBody>
      </p:sp>
      <p:sp>
        <p:nvSpPr>
          <p:cNvPr id="19" name="Rectangle 18"/>
          <p:cNvSpPr/>
          <p:nvPr/>
        </p:nvSpPr>
        <p:spPr>
          <a:xfrm>
            <a:off x="210312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03120" y="914400"/>
            <a:ext cx="155448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94560" y="1051560"/>
            <a:ext cx="1463040" cy="365760"/>
          </a:xfrm>
          <a:prstGeom prst="rect">
            <a:avLst/>
          </a:prstGeom>
          <a:noFill/>
        </p:spPr>
        <p:txBody>
          <a:bodyPr wrap="square">
            <a:spAutoFit/>
          </a:bodyPr>
          <a:lstStyle/>
          <a:p>
            <a:pPr algn="l"/>
            <a:r>
              <a:rPr sz="1200" b="1" i="0">
                <a:solidFill>
                  <a:srgbClr val="10B981"/>
                </a:solidFill>
              </a:rPr>
              <a:t>Apple</a:t>
            </a:r>
          </a:p>
        </p:txBody>
      </p:sp>
      <p:sp>
        <p:nvSpPr>
          <p:cNvPr id="22" name="Rectangle 21"/>
          <p:cNvSpPr/>
          <p:nvPr/>
        </p:nvSpPr>
        <p:spPr>
          <a:xfrm>
            <a:off x="2194560" y="164592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79" y="1737360"/>
            <a:ext cx="1325880" cy="274320"/>
          </a:xfrm>
          <a:prstGeom prst="rect">
            <a:avLst/>
          </a:prstGeom>
          <a:noFill/>
        </p:spPr>
        <p:txBody>
          <a:bodyPr wrap="square">
            <a:spAutoFit/>
          </a:bodyPr>
          <a:lstStyle/>
          <a:p>
            <a:pPr algn="l"/>
            <a:r>
              <a:rPr sz="800" b="1" i="0">
                <a:solidFill>
                  <a:srgbClr val="94A3B8"/>
                </a:solidFill>
              </a:rPr>
              <a:t>AVG VIEWS</a:t>
            </a:r>
          </a:p>
        </p:txBody>
      </p:sp>
      <p:sp>
        <p:nvSpPr>
          <p:cNvPr id="24" name="TextBox 23"/>
          <p:cNvSpPr txBox="1"/>
          <p:nvPr/>
        </p:nvSpPr>
        <p:spPr>
          <a:xfrm>
            <a:off x="2240279" y="2057400"/>
            <a:ext cx="1325880" cy="548640"/>
          </a:xfrm>
          <a:prstGeom prst="rect">
            <a:avLst/>
          </a:prstGeom>
          <a:noFill/>
        </p:spPr>
        <p:txBody>
          <a:bodyPr wrap="square">
            <a:spAutoFit/>
          </a:bodyPr>
          <a:lstStyle/>
          <a:p>
            <a:pPr algn="l"/>
            <a:r>
              <a:rPr sz="1800" b="1" i="0">
                <a:solidFill>
                  <a:srgbClr val="3B82F6"/>
                </a:solidFill>
              </a:rPr>
              <a:t>391,494</a:t>
            </a:r>
          </a:p>
        </p:txBody>
      </p:sp>
      <p:sp>
        <p:nvSpPr>
          <p:cNvPr id="25" name="Rectangle 24"/>
          <p:cNvSpPr/>
          <p:nvPr/>
        </p:nvSpPr>
        <p:spPr>
          <a:xfrm>
            <a:off x="2194560" y="310896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40279" y="3200400"/>
            <a:ext cx="1325880" cy="274320"/>
          </a:xfrm>
          <a:prstGeom prst="rect">
            <a:avLst/>
          </a:prstGeom>
          <a:noFill/>
        </p:spPr>
        <p:txBody>
          <a:bodyPr wrap="square">
            <a:spAutoFit/>
          </a:bodyPr>
          <a:lstStyle/>
          <a:p>
            <a:pPr algn="l"/>
            <a:r>
              <a:rPr sz="800" b="1" i="0">
                <a:solidFill>
                  <a:srgbClr val="94A3B8"/>
                </a:solidFill>
              </a:rPr>
              <a:t>AVG LIKES</a:t>
            </a:r>
          </a:p>
        </p:txBody>
      </p:sp>
      <p:sp>
        <p:nvSpPr>
          <p:cNvPr id="27" name="TextBox 26"/>
          <p:cNvSpPr txBox="1"/>
          <p:nvPr/>
        </p:nvSpPr>
        <p:spPr>
          <a:xfrm>
            <a:off x="2240279" y="3520440"/>
            <a:ext cx="1325880" cy="548640"/>
          </a:xfrm>
          <a:prstGeom prst="rect">
            <a:avLst/>
          </a:prstGeom>
          <a:noFill/>
        </p:spPr>
        <p:txBody>
          <a:bodyPr wrap="square">
            <a:spAutoFit/>
          </a:bodyPr>
          <a:lstStyle/>
          <a:p>
            <a:pPr algn="l"/>
            <a:r>
              <a:rPr sz="1800" b="1" i="0">
                <a:solidFill>
                  <a:srgbClr val="10B981"/>
                </a:solidFill>
              </a:rPr>
              <a:t>3,283</a:t>
            </a:r>
          </a:p>
        </p:txBody>
      </p:sp>
      <p:sp>
        <p:nvSpPr>
          <p:cNvPr id="28" name="Rectangle 27"/>
          <p:cNvSpPr/>
          <p:nvPr/>
        </p:nvSpPr>
        <p:spPr>
          <a:xfrm>
            <a:off x="2194560" y="457200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40279" y="4663440"/>
            <a:ext cx="1325880" cy="274320"/>
          </a:xfrm>
          <a:prstGeom prst="rect">
            <a:avLst/>
          </a:prstGeom>
          <a:noFill/>
        </p:spPr>
        <p:txBody>
          <a:bodyPr wrap="square">
            <a:spAutoFit/>
          </a:bodyPr>
          <a:lstStyle/>
          <a:p>
            <a:pPr algn="l"/>
            <a:r>
              <a:rPr sz="800" b="1" i="0">
                <a:solidFill>
                  <a:srgbClr val="94A3B8"/>
                </a:solidFill>
              </a:rPr>
              <a:t>AVG COMMENTS</a:t>
            </a:r>
          </a:p>
        </p:txBody>
      </p:sp>
      <p:sp>
        <p:nvSpPr>
          <p:cNvPr id="30" name="TextBox 29"/>
          <p:cNvSpPr txBox="1"/>
          <p:nvPr/>
        </p:nvSpPr>
        <p:spPr>
          <a:xfrm>
            <a:off x="2240279" y="4983480"/>
            <a:ext cx="1325880" cy="548640"/>
          </a:xfrm>
          <a:prstGeom prst="rect">
            <a:avLst/>
          </a:prstGeom>
          <a:noFill/>
        </p:spPr>
        <p:txBody>
          <a:bodyPr wrap="square">
            <a:spAutoFit/>
          </a:bodyPr>
          <a:lstStyle/>
          <a:p>
            <a:pPr algn="l"/>
            <a:r>
              <a:rPr sz="1800" b="1" i="0">
                <a:solidFill>
                  <a:srgbClr val="F59E0B"/>
                </a:solidFill>
              </a:rPr>
              <a:t>0</a:t>
            </a:r>
          </a:p>
        </p:txBody>
      </p:sp>
      <p:sp>
        <p:nvSpPr>
          <p:cNvPr id="31" name="TextBox 30"/>
          <p:cNvSpPr txBox="1"/>
          <p:nvPr/>
        </p:nvSpPr>
        <p:spPr>
          <a:xfrm>
            <a:off x="2194560" y="6035040"/>
            <a:ext cx="1463040" cy="274320"/>
          </a:xfrm>
          <a:prstGeom prst="rect">
            <a:avLst/>
          </a:prstGeom>
          <a:noFill/>
        </p:spPr>
        <p:txBody>
          <a:bodyPr wrap="square">
            <a:spAutoFit/>
          </a:bodyPr>
          <a:lstStyle/>
          <a:p>
            <a:pPr algn="l"/>
            <a:r>
              <a:rPr sz="800" b="0" i="0">
                <a:solidFill>
                  <a:srgbClr val="94A3B8"/>
                </a:solidFill>
              </a:rPr>
              <a:t>Top: 935,722 views</a:t>
            </a:r>
          </a:p>
        </p:txBody>
      </p:sp>
      <p:sp>
        <p:nvSpPr>
          <p:cNvPr id="32" name="Rectangle 31"/>
          <p:cNvSpPr/>
          <p:nvPr/>
        </p:nvSpPr>
        <p:spPr>
          <a:xfrm>
            <a:off x="3749039"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49039" y="914400"/>
            <a:ext cx="155448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79" y="1051560"/>
            <a:ext cx="1463040" cy="365760"/>
          </a:xfrm>
          <a:prstGeom prst="rect">
            <a:avLst/>
          </a:prstGeom>
          <a:noFill/>
        </p:spPr>
        <p:txBody>
          <a:bodyPr wrap="square">
            <a:spAutoFit/>
          </a:bodyPr>
          <a:lstStyle/>
          <a:p>
            <a:pPr algn="l"/>
            <a:r>
              <a:rPr sz="1200" b="1" i="0">
                <a:solidFill>
                  <a:srgbClr val="F59E0B"/>
                </a:solidFill>
              </a:rPr>
              <a:t>Microsoft</a:t>
            </a:r>
          </a:p>
        </p:txBody>
      </p:sp>
      <p:sp>
        <p:nvSpPr>
          <p:cNvPr id="35" name="Rectangle 34"/>
          <p:cNvSpPr/>
          <p:nvPr/>
        </p:nvSpPr>
        <p:spPr>
          <a:xfrm>
            <a:off x="3840479" y="164592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86200" y="1737360"/>
            <a:ext cx="1325880" cy="274320"/>
          </a:xfrm>
          <a:prstGeom prst="rect">
            <a:avLst/>
          </a:prstGeom>
          <a:noFill/>
        </p:spPr>
        <p:txBody>
          <a:bodyPr wrap="square">
            <a:spAutoFit/>
          </a:bodyPr>
          <a:lstStyle/>
          <a:p>
            <a:pPr algn="l"/>
            <a:r>
              <a:rPr sz="800" b="1" i="0">
                <a:solidFill>
                  <a:srgbClr val="94A3B8"/>
                </a:solidFill>
              </a:rPr>
              <a:t>AVG VIEWS</a:t>
            </a:r>
          </a:p>
        </p:txBody>
      </p:sp>
      <p:sp>
        <p:nvSpPr>
          <p:cNvPr id="37" name="TextBox 36"/>
          <p:cNvSpPr txBox="1"/>
          <p:nvPr/>
        </p:nvSpPr>
        <p:spPr>
          <a:xfrm>
            <a:off x="3886200" y="2057400"/>
            <a:ext cx="1325880" cy="548640"/>
          </a:xfrm>
          <a:prstGeom prst="rect">
            <a:avLst/>
          </a:prstGeom>
          <a:noFill/>
        </p:spPr>
        <p:txBody>
          <a:bodyPr wrap="square">
            <a:spAutoFit/>
          </a:bodyPr>
          <a:lstStyle/>
          <a:p>
            <a:pPr algn="l"/>
            <a:r>
              <a:rPr sz="1800" b="1" i="0">
                <a:solidFill>
                  <a:srgbClr val="3B82F6"/>
                </a:solidFill>
              </a:rPr>
              <a:t>6,583</a:t>
            </a:r>
          </a:p>
        </p:txBody>
      </p:sp>
      <p:sp>
        <p:nvSpPr>
          <p:cNvPr id="38" name="Rectangle 37"/>
          <p:cNvSpPr/>
          <p:nvPr/>
        </p:nvSpPr>
        <p:spPr>
          <a:xfrm>
            <a:off x="3840479" y="310896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86200" y="3200400"/>
            <a:ext cx="1325880" cy="274320"/>
          </a:xfrm>
          <a:prstGeom prst="rect">
            <a:avLst/>
          </a:prstGeom>
          <a:noFill/>
        </p:spPr>
        <p:txBody>
          <a:bodyPr wrap="square">
            <a:spAutoFit/>
          </a:bodyPr>
          <a:lstStyle/>
          <a:p>
            <a:pPr algn="l"/>
            <a:r>
              <a:rPr sz="800" b="1" i="0">
                <a:solidFill>
                  <a:srgbClr val="94A3B8"/>
                </a:solidFill>
              </a:rPr>
              <a:t>AVG LIKES</a:t>
            </a:r>
          </a:p>
        </p:txBody>
      </p:sp>
      <p:sp>
        <p:nvSpPr>
          <p:cNvPr id="40" name="TextBox 39"/>
          <p:cNvSpPr txBox="1"/>
          <p:nvPr/>
        </p:nvSpPr>
        <p:spPr>
          <a:xfrm>
            <a:off x="3886200" y="3520440"/>
            <a:ext cx="1325880" cy="548640"/>
          </a:xfrm>
          <a:prstGeom prst="rect">
            <a:avLst/>
          </a:prstGeom>
          <a:noFill/>
        </p:spPr>
        <p:txBody>
          <a:bodyPr wrap="square">
            <a:spAutoFit/>
          </a:bodyPr>
          <a:lstStyle/>
          <a:p>
            <a:pPr algn="l"/>
            <a:r>
              <a:rPr sz="1800" b="1" i="0">
                <a:solidFill>
                  <a:srgbClr val="10B981"/>
                </a:solidFill>
              </a:rPr>
              <a:t>242</a:t>
            </a:r>
          </a:p>
        </p:txBody>
      </p:sp>
      <p:sp>
        <p:nvSpPr>
          <p:cNvPr id="41" name="Rectangle 40"/>
          <p:cNvSpPr/>
          <p:nvPr/>
        </p:nvSpPr>
        <p:spPr>
          <a:xfrm>
            <a:off x="3840479" y="457200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86200" y="4663440"/>
            <a:ext cx="1325880" cy="274320"/>
          </a:xfrm>
          <a:prstGeom prst="rect">
            <a:avLst/>
          </a:prstGeom>
          <a:noFill/>
        </p:spPr>
        <p:txBody>
          <a:bodyPr wrap="square">
            <a:spAutoFit/>
          </a:bodyPr>
          <a:lstStyle/>
          <a:p>
            <a:pPr algn="l"/>
            <a:r>
              <a:rPr sz="800" b="1" i="0">
                <a:solidFill>
                  <a:srgbClr val="94A3B8"/>
                </a:solidFill>
              </a:rPr>
              <a:t>AVG COMMENTS</a:t>
            </a:r>
          </a:p>
        </p:txBody>
      </p:sp>
      <p:sp>
        <p:nvSpPr>
          <p:cNvPr id="43" name="TextBox 42"/>
          <p:cNvSpPr txBox="1"/>
          <p:nvPr/>
        </p:nvSpPr>
        <p:spPr>
          <a:xfrm>
            <a:off x="3886200" y="4983480"/>
            <a:ext cx="1325880" cy="548640"/>
          </a:xfrm>
          <a:prstGeom prst="rect">
            <a:avLst/>
          </a:prstGeom>
          <a:noFill/>
        </p:spPr>
        <p:txBody>
          <a:bodyPr wrap="square">
            <a:spAutoFit/>
          </a:bodyPr>
          <a:lstStyle/>
          <a:p>
            <a:pPr algn="l"/>
            <a:r>
              <a:rPr sz="1800" b="1" i="0">
                <a:solidFill>
                  <a:srgbClr val="F59E0B"/>
                </a:solidFill>
              </a:rPr>
              <a:t>35</a:t>
            </a:r>
          </a:p>
        </p:txBody>
      </p:sp>
      <p:sp>
        <p:nvSpPr>
          <p:cNvPr id="44" name="TextBox 43"/>
          <p:cNvSpPr txBox="1"/>
          <p:nvPr/>
        </p:nvSpPr>
        <p:spPr>
          <a:xfrm>
            <a:off x="3840479" y="6035040"/>
            <a:ext cx="1463040" cy="274320"/>
          </a:xfrm>
          <a:prstGeom prst="rect">
            <a:avLst/>
          </a:prstGeom>
          <a:noFill/>
        </p:spPr>
        <p:txBody>
          <a:bodyPr wrap="square">
            <a:spAutoFit/>
          </a:bodyPr>
          <a:lstStyle/>
          <a:p>
            <a:pPr algn="l"/>
            <a:r>
              <a:rPr sz="800" b="0" i="0">
                <a:solidFill>
                  <a:srgbClr val="94A3B8"/>
                </a:solidFill>
              </a:rPr>
              <a:t>Top: 22,307 views</a:t>
            </a:r>
          </a:p>
        </p:txBody>
      </p:sp>
      <p:sp>
        <p:nvSpPr>
          <p:cNvPr id="45" name="Rectangle 44"/>
          <p:cNvSpPr/>
          <p:nvPr/>
        </p:nvSpPr>
        <p:spPr>
          <a:xfrm>
            <a:off x="539496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94960" y="914400"/>
            <a:ext cx="1554480"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0" y="1051560"/>
            <a:ext cx="1463040" cy="365760"/>
          </a:xfrm>
          <a:prstGeom prst="rect">
            <a:avLst/>
          </a:prstGeom>
          <a:noFill/>
        </p:spPr>
        <p:txBody>
          <a:bodyPr wrap="square">
            <a:spAutoFit/>
          </a:bodyPr>
          <a:lstStyle/>
          <a:p>
            <a:pPr algn="l"/>
            <a:r>
              <a:rPr sz="1200" b="1" i="0">
                <a:solidFill>
                  <a:srgbClr val="EF4444"/>
                </a:solidFill>
              </a:rPr>
              <a:t>Meta</a:t>
            </a:r>
          </a:p>
        </p:txBody>
      </p:sp>
      <p:sp>
        <p:nvSpPr>
          <p:cNvPr id="48" name="Rectangle 47"/>
          <p:cNvSpPr/>
          <p:nvPr/>
        </p:nvSpPr>
        <p:spPr>
          <a:xfrm>
            <a:off x="5486400" y="164592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32120" y="1737360"/>
            <a:ext cx="1325880" cy="274320"/>
          </a:xfrm>
          <a:prstGeom prst="rect">
            <a:avLst/>
          </a:prstGeom>
          <a:noFill/>
        </p:spPr>
        <p:txBody>
          <a:bodyPr wrap="square">
            <a:spAutoFit/>
          </a:bodyPr>
          <a:lstStyle/>
          <a:p>
            <a:pPr algn="l"/>
            <a:r>
              <a:rPr sz="800" b="1" i="0">
                <a:solidFill>
                  <a:srgbClr val="94A3B8"/>
                </a:solidFill>
              </a:rPr>
              <a:t>AVG VIEWS</a:t>
            </a:r>
          </a:p>
        </p:txBody>
      </p:sp>
      <p:sp>
        <p:nvSpPr>
          <p:cNvPr id="50" name="TextBox 49"/>
          <p:cNvSpPr txBox="1"/>
          <p:nvPr/>
        </p:nvSpPr>
        <p:spPr>
          <a:xfrm>
            <a:off x="5532120" y="2057400"/>
            <a:ext cx="1325880" cy="548640"/>
          </a:xfrm>
          <a:prstGeom prst="rect">
            <a:avLst/>
          </a:prstGeom>
          <a:noFill/>
        </p:spPr>
        <p:txBody>
          <a:bodyPr wrap="square">
            <a:spAutoFit/>
          </a:bodyPr>
          <a:lstStyle/>
          <a:p>
            <a:pPr algn="l"/>
            <a:r>
              <a:rPr sz="1800" b="1" i="0">
                <a:solidFill>
                  <a:srgbClr val="3B82F6"/>
                </a:solidFill>
              </a:rPr>
              <a:t>17,412</a:t>
            </a:r>
          </a:p>
        </p:txBody>
      </p:sp>
      <p:sp>
        <p:nvSpPr>
          <p:cNvPr id="51" name="Rectangle 50"/>
          <p:cNvSpPr/>
          <p:nvPr/>
        </p:nvSpPr>
        <p:spPr>
          <a:xfrm>
            <a:off x="5486400" y="310896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532120" y="3200400"/>
            <a:ext cx="1325880" cy="274320"/>
          </a:xfrm>
          <a:prstGeom prst="rect">
            <a:avLst/>
          </a:prstGeom>
          <a:noFill/>
        </p:spPr>
        <p:txBody>
          <a:bodyPr wrap="square">
            <a:spAutoFit/>
          </a:bodyPr>
          <a:lstStyle/>
          <a:p>
            <a:pPr algn="l"/>
            <a:r>
              <a:rPr sz="800" b="1" i="0">
                <a:solidFill>
                  <a:srgbClr val="94A3B8"/>
                </a:solidFill>
              </a:rPr>
              <a:t>AVG LIKES</a:t>
            </a:r>
          </a:p>
        </p:txBody>
      </p:sp>
      <p:sp>
        <p:nvSpPr>
          <p:cNvPr id="53" name="TextBox 52"/>
          <p:cNvSpPr txBox="1"/>
          <p:nvPr/>
        </p:nvSpPr>
        <p:spPr>
          <a:xfrm>
            <a:off x="5532120" y="3520440"/>
            <a:ext cx="1325880" cy="548640"/>
          </a:xfrm>
          <a:prstGeom prst="rect">
            <a:avLst/>
          </a:prstGeom>
          <a:noFill/>
        </p:spPr>
        <p:txBody>
          <a:bodyPr wrap="square">
            <a:spAutoFit/>
          </a:bodyPr>
          <a:lstStyle/>
          <a:p>
            <a:pPr algn="l"/>
            <a:r>
              <a:rPr sz="1800" b="1" i="0">
                <a:solidFill>
                  <a:srgbClr val="10B981"/>
                </a:solidFill>
              </a:rPr>
              <a:t>1,047</a:t>
            </a:r>
          </a:p>
        </p:txBody>
      </p:sp>
      <p:sp>
        <p:nvSpPr>
          <p:cNvPr id="54" name="Rectangle 53"/>
          <p:cNvSpPr/>
          <p:nvPr/>
        </p:nvSpPr>
        <p:spPr>
          <a:xfrm>
            <a:off x="5486400" y="457200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532120" y="4663440"/>
            <a:ext cx="1325880" cy="274320"/>
          </a:xfrm>
          <a:prstGeom prst="rect">
            <a:avLst/>
          </a:prstGeom>
          <a:noFill/>
        </p:spPr>
        <p:txBody>
          <a:bodyPr wrap="square">
            <a:spAutoFit/>
          </a:bodyPr>
          <a:lstStyle/>
          <a:p>
            <a:pPr algn="l"/>
            <a:r>
              <a:rPr sz="800" b="1" i="0">
                <a:solidFill>
                  <a:srgbClr val="94A3B8"/>
                </a:solidFill>
              </a:rPr>
              <a:t>AVG COMMENTS</a:t>
            </a:r>
          </a:p>
        </p:txBody>
      </p:sp>
      <p:sp>
        <p:nvSpPr>
          <p:cNvPr id="56" name="TextBox 55"/>
          <p:cNvSpPr txBox="1"/>
          <p:nvPr/>
        </p:nvSpPr>
        <p:spPr>
          <a:xfrm>
            <a:off x="5532120" y="4983480"/>
            <a:ext cx="1325880" cy="548640"/>
          </a:xfrm>
          <a:prstGeom prst="rect">
            <a:avLst/>
          </a:prstGeom>
          <a:noFill/>
        </p:spPr>
        <p:txBody>
          <a:bodyPr wrap="square">
            <a:spAutoFit/>
          </a:bodyPr>
          <a:lstStyle/>
          <a:p>
            <a:pPr algn="l"/>
            <a:r>
              <a:rPr sz="1800" b="1" i="0">
                <a:solidFill>
                  <a:srgbClr val="F59E0B"/>
                </a:solidFill>
              </a:rPr>
              <a:t>81</a:t>
            </a:r>
          </a:p>
        </p:txBody>
      </p:sp>
      <p:sp>
        <p:nvSpPr>
          <p:cNvPr id="57" name="TextBox 56"/>
          <p:cNvSpPr txBox="1"/>
          <p:nvPr/>
        </p:nvSpPr>
        <p:spPr>
          <a:xfrm>
            <a:off x="5486400" y="6035040"/>
            <a:ext cx="1463040" cy="274320"/>
          </a:xfrm>
          <a:prstGeom prst="rect">
            <a:avLst/>
          </a:prstGeom>
          <a:noFill/>
        </p:spPr>
        <p:txBody>
          <a:bodyPr wrap="square">
            <a:spAutoFit/>
          </a:bodyPr>
          <a:lstStyle/>
          <a:p>
            <a:pPr algn="l"/>
            <a:r>
              <a:rPr sz="800" b="0" i="0">
                <a:solidFill>
                  <a:srgbClr val="94A3B8"/>
                </a:solidFill>
              </a:rPr>
              <a:t>Top: 26,972 views</a:t>
            </a:r>
          </a:p>
        </p:txBody>
      </p:sp>
      <p:sp>
        <p:nvSpPr>
          <p:cNvPr id="58" name="Rectangle 57"/>
          <p:cNvSpPr/>
          <p:nvPr/>
        </p:nvSpPr>
        <p:spPr>
          <a:xfrm>
            <a:off x="7040880" y="914400"/>
            <a:ext cx="1554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40880" y="914400"/>
            <a:ext cx="1554480" cy="9144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32320" y="1051560"/>
            <a:ext cx="1463040" cy="365760"/>
          </a:xfrm>
          <a:prstGeom prst="rect">
            <a:avLst/>
          </a:prstGeom>
          <a:noFill/>
        </p:spPr>
        <p:txBody>
          <a:bodyPr wrap="square">
            <a:spAutoFit/>
          </a:bodyPr>
          <a:lstStyle/>
          <a:p>
            <a:pPr algn="l"/>
            <a:r>
              <a:rPr sz="1200" b="1" i="0">
                <a:solidFill>
                  <a:srgbClr val="A855F7"/>
                </a:solidFill>
              </a:rPr>
              <a:t>Amazon</a:t>
            </a:r>
          </a:p>
        </p:txBody>
      </p:sp>
      <p:sp>
        <p:nvSpPr>
          <p:cNvPr id="61" name="Rectangle 60"/>
          <p:cNvSpPr/>
          <p:nvPr/>
        </p:nvSpPr>
        <p:spPr>
          <a:xfrm>
            <a:off x="7132320" y="164592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78040" y="1737360"/>
            <a:ext cx="1325880" cy="274320"/>
          </a:xfrm>
          <a:prstGeom prst="rect">
            <a:avLst/>
          </a:prstGeom>
          <a:noFill/>
        </p:spPr>
        <p:txBody>
          <a:bodyPr wrap="square">
            <a:spAutoFit/>
          </a:bodyPr>
          <a:lstStyle/>
          <a:p>
            <a:pPr algn="l"/>
            <a:r>
              <a:rPr sz="800" b="1" i="0">
                <a:solidFill>
                  <a:srgbClr val="94A3B8"/>
                </a:solidFill>
              </a:rPr>
              <a:t>AVG VIEWS</a:t>
            </a:r>
          </a:p>
        </p:txBody>
      </p:sp>
      <p:sp>
        <p:nvSpPr>
          <p:cNvPr id="63" name="TextBox 62"/>
          <p:cNvSpPr txBox="1"/>
          <p:nvPr/>
        </p:nvSpPr>
        <p:spPr>
          <a:xfrm>
            <a:off x="7178040" y="2057400"/>
            <a:ext cx="1325880" cy="548640"/>
          </a:xfrm>
          <a:prstGeom prst="rect">
            <a:avLst/>
          </a:prstGeom>
          <a:noFill/>
        </p:spPr>
        <p:txBody>
          <a:bodyPr wrap="square">
            <a:spAutoFit/>
          </a:bodyPr>
          <a:lstStyle/>
          <a:p>
            <a:pPr algn="l"/>
            <a:r>
              <a:rPr sz="1800" b="1" i="0">
                <a:solidFill>
                  <a:srgbClr val="3B82F6"/>
                </a:solidFill>
              </a:rPr>
              <a:t>5,633</a:t>
            </a:r>
          </a:p>
        </p:txBody>
      </p:sp>
      <p:sp>
        <p:nvSpPr>
          <p:cNvPr id="64" name="Rectangle 63"/>
          <p:cNvSpPr/>
          <p:nvPr/>
        </p:nvSpPr>
        <p:spPr>
          <a:xfrm>
            <a:off x="7132320" y="310896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78040" y="3200400"/>
            <a:ext cx="1325880" cy="274320"/>
          </a:xfrm>
          <a:prstGeom prst="rect">
            <a:avLst/>
          </a:prstGeom>
          <a:noFill/>
        </p:spPr>
        <p:txBody>
          <a:bodyPr wrap="square">
            <a:spAutoFit/>
          </a:bodyPr>
          <a:lstStyle/>
          <a:p>
            <a:pPr algn="l"/>
            <a:r>
              <a:rPr sz="800" b="1" i="0">
                <a:solidFill>
                  <a:srgbClr val="94A3B8"/>
                </a:solidFill>
              </a:rPr>
              <a:t>AVG LIKES</a:t>
            </a:r>
          </a:p>
        </p:txBody>
      </p:sp>
      <p:sp>
        <p:nvSpPr>
          <p:cNvPr id="66" name="TextBox 65"/>
          <p:cNvSpPr txBox="1"/>
          <p:nvPr/>
        </p:nvSpPr>
        <p:spPr>
          <a:xfrm>
            <a:off x="7178040" y="3520440"/>
            <a:ext cx="1325880" cy="548640"/>
          </a:xfrm>
          <a:prstGeom prst="rect">
            <a:avLst/>
          </a:prstGeom>
          <a:noFill/>
        </p:spPr>
        <p:txBody>
          <a:bodyPr wrap="square">
            <a:spAutoFit/>
          </a:bodyPr>
          <a:lstStyle/>
          <a:p>
            <a:pPr algn="l"/>
            <a:r>
              <a:rPr sz="1800" b="1" i="0">
                <a:solidFill>
                  <a:srgbClr val="10B981"/>
                </a:solidFill>
              </a:rPr>
              <a:t>148</a:t>
            </a:r>
          </a:p>
        </p:txBody>
      </p:sp>
      <p:sp>
        <p:nvSpPr>
          <p:cNvPr id="67" name="Rectangle 66"/>
          <p:cNvSpPr/>
          <p:nvPr/>
        </p:nvSpPr>
        <p:spPr>
          <a:xfrm>
            <a:off x="7132320" y="4572000"/>
            <a:ext cx="1417320" cy="1280160"/>
          </a:xfrm>
          <a:prstGeom prst="rect">
            <a:avLst/>
          </a:prstGeom>
          <a:solidFill>
            <a:srgbClr val="28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178040" y="4663440"/>
            <a:ext cx="1325880" cy="274320"/>
          </a:xfrm>
          <a:prstGeom prst="rect">
            <a:avLst/>
          </a:prstGeom>
          <a:noFill/>
        </p:spPr>
        <p:txBody>
          <a:bodyPr wrap="square">
            <a:spAutoFit/>
          </a:bodyPr>
          <a:lstStyle/>
          <a:p>
            <a:pPr algn="l"/>
            <a:r>
              <a:rPr sz="800" b="1" i="0">
                <a:solidFill>
                  <a:srgbClr val="94A3B8"/>
                </a:solidFill>
              </a:rPr>
              <a:t>AVG COMMENTS</a:t>
            </a:r>
          </a:p>
        </p:txBody>
      </p:sp>
      <p:sp>
        <p:nvSpPr>
          <p:cNvPr id="69" name="TextBox 68"/>
          <p:cNvSpPr txBox="1"/>
          <p:nvPr/>
        </p:nvSpPr>
        <p:spPr>
          <a:xfrm>
            <a:off x="7178040" y="4983480"/>
            <a:ext cx="1325880" cy="548640"/>
          </a:xfrm>
          <a:prstGeom prst="rect">
            <a:avLst/>
          </a:prstGeom>
          <a:noFill/>
        </p:spPr>
        <p:txBody>
          <a:bodyPr wrap="square">
            <a:spAutoFit/>
          </a:bodyPr>
          <a:lstStyle/>
          <a:p>
            <a:pPr algn="l"/>
            <a:r>
              <a:rPr sz="1800" b="1" i="0">
                <a:solidFill>
                  <a:srgbClr val="F59E0B"/>
                </a:solidFill>
              </a:rPr>
              <a:t>3</a:t>
            </a:r>
          </a:p>
        </p:txBody>
      </p:sp>
      <p:sp>
        <p:nvSpPr>
          <p:cNvPr id="70" name="TextBox 69"/>
          <p:cNvSpPr txBox="1"/>
          <p:nvPr/>
        </p:nvSpPr>
        <p:spPr>
          <a:xfrm>
            <a:off x="7132320" y="6035040"/>
            <a:ext cx="1463040" cy="274320"/>
          </a:xfrm>
          <a:prstGeom prst="rect">
            <a:avLst/>
          </a:prstGeom>
          <a:noFill/>
        </p:spPr>
        <p:txBody>
          <a:bodyPr wrap="square">
            <a:spAutoFit/>
          </a:bodyPr>
          <a:lstStyle/>
          <a:p>
            <a:pPr algn="l"/>
            <a:r>
              <a:rPr sz="800" b="0" i="0">
                <a:solidFill>
                  <a:srgbClr val="94A3B8"/>
                </a:solidFill>
              </a:rPr>
              <a:t>Top: 8,674 views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06</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800" b="1" i="0">
                <a:solidFill>
                  <a:srgbClr val="FFFFFF"/>
                </a:solidFill>
              </a:rPr>
              <a:t>CONTENT TOPICS &amp; THEMES</a:t>
            </a:r>
          </a:p>
        </p:txBody>
      </p:sp>
      <p:sp>
        <p:nvSpPr>
          <p:cNvPr id="5" name="Rectangle 4"/>
          <p:cNvSpPr/>
          <p:nvPr/>
        </p:nvSpPr>
        <p:spPr>
          <a:xfrm>
            <a:off x="457200" y="777240"/>
            <a:ext cx="82296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8412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7955279" cy="5029200"/>
          </a:xfrm>
          <a:prstGeom prst="rect">
            <a:avLst/>
          </a:prstGeom>
          <a:noFill/>
        </p:spPr>
        <p:txBody>
          <a:bodyPr wrap="square">
            <a:spAutoFit/>
          </a:bodyPr>
          <a:lstStyle/>
          <a:p>
            <a:pPr algn="l"/>
            <a:r>
              <a:rPr sz="1200" b="0" i="0">
                <a:solidFill>
                  <a:srgbClr val="FFFFFF"/>
                </a:solidFill>
              </a:rPr>
              <a:t>Each company focuses on different topics: Apple on creative and inspirational stories, Microsoft on software and technology, Google on search, AI, and SEO, Meta on gaming, and Amazon on a wide range of topics, including entertainment, lifestyle, and technology. Important topics that are missing across all channels include sustainability, social responsibility, and emerging technologies like blockchain and quantum computing. Google, in particular, could explore creating content around these topics to differentiate itself and attract a wider audience. For instance, Google could create content about the environmental impact of AI or the social responsibility of tech companies, which could reson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07</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600" b="1" i="0">
                <a:solidFill>
                  <a:srgbClr val="FFFFFF"/>
                </a:solidFill>
              </a:rPr>
              <a:t>POSTING FREQUENCY &amp; CONSISTENCY</a:t>
            </a:r>
          </a:p>
        </p:txBody>
      </p:sp>
      <p:sp>
        <p:nvSpPr>
          <p:cNvPr id="5" name="Rectangle 4"/>
          <p:cNvSpPr/>
          <p:nvPr/>
        </p:nvSpPr>
        <p:spPr>
          <a:xfrm>
            <a:off x="457200" y="777240"/>
            <a:ext cx="82296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1554480" cy="2743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14400"/>
            <a:ext cx="1554480" cy="91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1463040" cy="365760"/>
          </a:xfrm>
          <a:prstGeom prst="rect">
            <a:avLst/>
          </a:prstGeom>
          <a:noFill/>
        </p:spPr>
        <p:txBody>
          <a:bodyPr wrap="square">
            <a:spAutoFit/>
          </a:bodyPr>
          <a:lstStyle/>
          <a:p>
            <a:pPr algn="l"/>
            <a:r>
              <a:rPr sz="1200" b="1" i="0">
                <a:solidFill>
                  <a:srgbClr val="3B82F6"/>
                </a:solidFill>
              </a:rPr>
              <a:t>Google</a:t>
            </a:r>
          </a:p>
        </p:txBody>
      </p:sp>
      <p:sp>
        <p:nvSpPr>
          <p:cNvPr id="9" name="TextBox 8"/>
          <p:cNvSpPr txBox="1"/>
          <p:nvPr/>
        </p:nvSpPr>
        <p:spPr>
          <a:xfrm>
            <a:off x="548640" y="1554480"/>
            <a:ext cx="1463040" cy="548640"/>
          </a:xfrm>
          <a:prstGeom prst="rect">
            <a:avLst/>
          </a:prstGeom>
          <a:noFill/>
        </p:spPr>
        <p:txBody>
          <a:bodyPr wrap="square">
            <a:spAutoFit/>
          </a:bodyPr>
          <a:lstStyle/>
          <a:p>
            <a:pPr algn="l"/>
            <a:r>
              <a:rPr sz="1000" b="0" i="0">
                <a:solidFill>
                  <a:srgbClr val="FFFFFF"/>
                </a:solidFill>
              </a:rPr>
              <a:t>Every 6.4 days (Weekly)</a:t>
            </a:r>
          </a:p>
        </p:txBody>
      </p:sp>
      <p:sp>
        <p:nvSpPr>
          <p:cNvPr id="10" name="TextBox 9"/>
          <p:cNvSpPr txBox="1"/>
          <p:nvPr/>
        </p:nvSpPr>
        <p:spPr>
          <a:xfrm>
            <a:off x="548640" y="2194560"/>
            <a:ext cx="1463040" cy="365760"/>
          </a:xfrm>
          <a:prstGeom prst="rect">
            <a:avLst/>
          </a:prstGeom>
          <a:noFill/>
        </p:spPr>
        <p:txBody>
          <a:bodyPr wrap="square">
            <a:spAutoFit/>
          </a:bodyPr>
          <a:lstStyle/>
          <a:p>
            <a:pPr algn="l"/>
            <a:r>
              <a:rPr sz="1000" b="0" i="0">
                <a:solidFill>
                  <a:srgbClr val="94A3B8"/>
                </a:solidFill>
              </a:rPr>
              <a:t>Total: 2,035 videos</a:t>
            </a:r>
          </a:p>
        </p:txBody>
      </p:sp>
      <p:sp>
        <p:nvSpPr>
          <p:cNvPr id="11" name="Rectangle 10"/>
          <p:cNvSpPr/>
          <p:nvPr/>
        </p:nvSpPr>
        <p:spPr>
          <a:xfrm>
            <a:off x="2103120" y="914400"/>
            <a:ext cx="1554480" cy="2743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03120" y="914400"/>
            <a:ext cx="155448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1051560"/>
            <a:ext cx="1463040" cy="365760"/>
          </a:xfrm>
          <a:prstGeom prst="rect">
            <a:avLst/>
          </a:prstGeom>
          <a:noFill/>
        </p:spPr>
        <p:txBody>
          <a:bodyPr wrap="square">
            <a:spAutoFit/>
          </a:bodyPr>
          <a:lstStyle/>
          <a:p>
            <a:pPr algn="l"/>
            <a:r>
              <a:rPr sz="1200" b="1" i="0">
                <a:solidFill>
                  <a:srgbClr val="10B981"/>
                </a:solidFill>
              </a:rPr>
              <a:t>Apple</a:t>
            </a:r>
          </a:p>
        </p:txBody>
      </p:sp>
      <p:sp>
        <p:nvSpPr>
          <p:cNvPr id="14" name="TextBox 13"/>
          <p:cNvSpPr txBox="1"/>
          <p:nvPr/>
        </p:nvSpPr>
        <p:spPr>
          <a:xfrm>
            <a:off x="2194560" y="1554480"/>
            <a:ext cx="1463040" cy="548640"/>
          </a:xfrm>
          <a:prstGeom prst="rect">
            <a:avLst/>
          </a:prstGeom>
          <a:noFill/>
        </p:spPr>
        <p:txBody>
          <a:bodyPr wrap="square">
            <a:spAutoFit/>
          </a:bodyPr>
          <a:lstStyle/>
          <a:p>
            <a:pPr algn="l"/>
            <a:r>
              <a:rPr sz="1000" b="0" i="0">
                <a:solidFill>
                  <a:srgbClr val="FFFFFF"/>
                </a:solidFill>
              </a:rPr>
              <a:t>Every 1.6 days (Very Active)</a:t>
            </a:r>
          </a:p>
        </p:txBody>
      </p:sp>
      <p:sp>
        <p:nvSpPr>
          <p:cNvPr id="15" name="TextBox 14"/>
          <p:cNvSpPr txBox="1"/>
          <p:nvPr/>
        </p:nvSpPr>
        <p:spPr>
          <a:xfrm>
            <a:off x="2194560" y="2194560"/>
            <a:ext cx="1463040" cy="365760"/>
          </a:xfrm>
          <a:prstGeom prst="rect">
            <a:avLst/>
          </a:prstGeom>
          <a:noFill/>
        </p:spPr>
        <p:txBody>
          <a:bodyPr wrap="square">
            <a:spAutoFit/>
          </a:bodyPr>
          <a:lstStyle/>
          <a:p>
            <a:pPr algn="l"/>
            <a:r>
              <a:rPr sz="1000" b="0" i="0">
                <a:solidFill>
                  <a:srgbClr val="94A3B8"/>
                </a:solidFill>
              </a:rPr>
              <a:t>Total: 178 videos</a:t>
            </a:r>
          </a:p>
        </p:txBody>
      </p:sp>
      <p:sp>
        <p:nvSpPr>
          <p:cNvPr id="16" name="Rectangle 15"/>
          <p:cNvSpPr/>
          <p:nvPr/>
        </p:nvSpPr>
        <p:spPr>
          <a:xfrm>
            <a:off x="3749039" y="914400"/>
            <a:ext cx="1554480" cy="2743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49039" y="914400"/>
            <a:ext cx="155448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79" y="1051560"/>
            <a:ext cx="1463040" cy="365760"/>
          </a:xfrm>
          <a:prstGeom prst="rect">
            <a:avLst/>
          </a:prstGeom>
          <a:noFill/>
        </p:spPr>
        <p:txBody>
          <a:bodyPr wrap="square">
            <a:spAutoFit/>
          </a:bodyPr>
          <a:lstStyle/>
          <a:p>
            <a:pPr algn="l"/>
            <a:r>
              <a:rPr sz="1200" b="1" i="0">
                <a:solidFill>
                  <a:srgbClr val="F59E0B"/>
                </a:solidFill>
              </a:rPr>
              <a:t>Microsoft</a:t>
            </a:r>
          </a:p>
        </p:txBody>
      </p:sp>
      <p:sp>
        <p:nvSpPr>
          <p:cNvPr id="19" name="TextBox 18"/>
          <p:cNvSpPr txBox="1"/>
          <p:nvPr/>
        </p:nvSpPr>
        <p:spPr>
          <a:xfrm>
            <a:off x="3840479" y="1554480"/>
            <a:ext cx="1463040" cy="548640"/>
          </a:xfrm>
          <a:prstGeom prst="rect">
            <a:avLst/>
          </a:prstGeom>
          <a:noFill/>
        </p:spPr>
        <p:txBody>
          <a:bodyPr wrap="square">
            <a:spAutoFit/>
          </a:bodyPr>
          <a:lstStyle/>
          <a:p>
            <a:pPr algn="l"/>
            <a:r>
              <a:rPr sz="1000" b="0" i="0">
                <a:solidFill>
                  <a:srgbClr val="FFFFFF"/>
                </a:solidFill>
              </a:rPr>
              <a:t>Every 3.2 days (Weekly)</a:t>
            </a:r>
          </a:p>
        </p:txBody>
      </p:sp>
      <p:sp>
        <p:nvSpPr>
          <p:cNvPr id="20" name="TextBox 19"/>
          <p:cNvSpPr txBox="1"/>
          <p:nvPr/>
        </p:nvSpPr>
        <p:spPr>
          <a:xfrm>
            <a:off x="3840479" y="2194560"/>
            <a:ext cx="1463040" cy="365760"/>
          </a:xfrm>
          <a:prstGeom prst="rect">
            <a:avLst/>
          </a:prstGeom>
          <a:noFill/>
        </p:spPr>
        <p:txBody>
          <a:bodyPr wrap="square">
            <a:spAutoFit/>
          </a:bodyPr>
          <a:lstStyle/>
          <a:p>
            <a:pPr algn="l"/>
            <a:r>
              <a:rPr sz="1000" b="0" i="0">
                <a:solidFill>
                  <a:srgbClr val="94A3B8"/>
                </a:solidFill>
              </a:rPr>
              <a:t>Total: 735 videos</a:t>
            </a:r>
          </a:p>
        </p:txBody>
      </p:sp>
      <p:sp>
        <p:nvSpPr>
          <p:cNvPr id="21" name="Rectangle 20"/>
          <p:cNvSpPr/>
          <p:nvPr/>
        </p:nvSpPr>
        <p:spPr>
          <a:xfrm>
            <a:off x="5394960" y="914400"/>
            <a:ext cx="1554480" cy="2743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94960" y="914400"/>
            <a:ext cx="1554480"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0" y="1051560"/>
            <a:ext cx="1463040" cy="365760"/>
          </a:xfrm>
          <a:prstGeom prst="rect">
            <a:avLst/>
          </a:prstGeom>
          <a:noFill/>
        </p:spPr>
        <p:txBody>
          <a:bodyPr wrap="square">
            <a:spAutoFit/>
          </a:bodyPr>
          <a:lstStyle/>
          <a:p>
            <a:pPr algn="l"/>
            <a:r>
              <a:rPr sz="1200" b="1" i="0">
                <a:solidFill>
                  <a:srgbClr val="EF4444"/>
                </a:solidFill>
              </a:rPr>
              <a:t>Meta</a:t>
            </a:r>
          </a:p>
        </p:txBody>
      </p:sp>
      <p:sp>
        <p:nvSpPr>
          <p:cNvPr id="24" name="TextBox 23"/>
          <p:cNvSpPr txBox="1"/>
          <p:nvPr/>
        </p:nvSpPr>
        <p:spPr>
          <a:xfrm>
            <a:off x="5486400" y="1554480"/>
            <a:ext cx="1463040" cy="548640"/>
          </a:xfrm>
          <a:prstGeom prst="rect">
            <a:avLst/>
          </a:prstGeom>
          <a:noFill/>
        </p:spPr>
        <p:txBody>
          <a:bodyPr wrap="square">
            <a:spAutoFit/>
          </a:bodyPr>
          <a:lstStyle/>
          <a:p>
            <a:pPr algn="l"/>
            <a:r>
              <a:rPr sz="1000" b="0" i="0">
                <a:solidFill>
                  <a:srgbClr val="FFFFFF"/>
                </a:solidFill>
              </a:rPr>
              <a:t>Every 1.1 days (Very Active)</a:t>
            </a:r>
          </a:p>
        </p:txBody>
      </p:sp>
      <p:sp>
        <p:nvSpPr>
          <p:cNvPr id="25" name="TextBox 24"/>
          <p:cNvSpPr txBox="1"/>
          <p:nvPr/>
        </p:nvSpPr>
        <p:spPr>
          <a:xfrm>
            <a:off x="5486400" y="2194560"/>
            <a:ext cx="1463040" cy="365760"/>
          </a:xfrm>
          <a:prstGeom prst="rect">
            <a:avLst/>
          </a:prstGeom>
          <a:noFill/>
        </p:spPr>
        <p:txBody>
          <a:bodyPr wrap="square">
            <a:spAutoFit/>
          </a:bodyPr>
          <a:lstStyle/>
          <a:p>
            <a:pPr algn="l"/>
            <a:r>
              <a:rPr sz="1000" b="0" i="0">
                <a:solidFill>
                  <a:srgbClr val="94A3B8"/>
                </a:solidFill>
              </a:rPr>
              <a:t>Total: 327 videos</a:t>
            </a:r>
          </a:p>
        </p:txBody>
      </p:sp>
      <p:sp>
        <p:nvSpPr>
          <p:cNvPr id="26" name="Rectangle 25"/>
          <p:cNvSpPr/>
          <p:nvPr/>
        </p:nvSpPr>
        <p:spPr>
          <a:xfrm>
            <a:off x="7040880" y="914400"/>
            <a:ext cx="1554480" cy="2743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40880" y="914400"/>
            <a:ext cx="1554480" cy="9144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0" y="1051560"/>
            <a:ext cx="1463040" cy="365760"/>
          </a:xfrm>
          <a:prstGeom prst="rect">
            <a:avLst/>
          </a:prstGeom>
          <a:noFill/>
        </p:spPr>
        <p:txBody>
          <a:bodyPr wrap="square">
            <a:spAutoFit/>
          </a:bodyPr>
          <a:lstStyle/>
          <a:p>
            <a:pPr algn="l"/>
            <a:r>
              <a:rPr sz="1200" b="1" i="0">
                <a:solidFill>
                  <a:srgbClr val="A855F7"/>
                </a:solidFill>
              </a:rPr>
              <a:t>Amazon</a:t>
            </a:r>
          </a:p>
        </p:txBody>
      </p:sp>
      <p:sp>
        <p:nvSpPr>
          <p:cNvPr id="29" name="TextBox 28"/>
          <p:cNvSpPr txBox="1"/>
          <p:nvPr/>
        </p:nvSpPr>
        <p:spPr>
          <a:xfrm>
            <a:off x="7132320" y="1554480"/>
            <a:ext cx="1463040" cy="548640"/>
          </a:xfrm>
          <a:prstGeom prst="rect">
            <a:avLst/>
          </a:prstGeom>
          <a:noFill/>
        </p:spPr>
        <p:txBody>
          <a:bodyPr wrap="square">
            <a:spAutoFit/>
          </a:bodyPr>
          <a:lstStyle/>
          <a:p>
            <a:pPr algn="l"/>
            <a:r>
              <a:rPr sz="1000" b="0" i="0">
                <a:solidFill>
                  <a:srgbClr val="FFFFFF"/>
                </a:solidFill>
              </a:rPr>
              <a:t>Every 0.1 days (Very Active)</a:t>
            </a:r>
          </a:p>
        </p:txBody>
      </p:sp>
      <p:sp>
        <p:nvSpPr>
          <p:cNvPr id="30" name="TextBox 29"/>
          <p:cNvSpPr txBox="1"/>
          <p:nvPr/>
        </p:nvSpPr>
        <p:spPr>
          <a:xfrm>
            <a:off x="7132320" y="2194560"/>
            <a:ext cx="1463040" cy="365760"/>
          </a:xfrm>
          <a:prstGeom prst="rect">
            <a:avLst/>
          </a:prstGeom>
          <a:noFill/>
        </p:spPr>
        <p:txBody>
          <a:bodyPr wrap="square">
            <a:spAutoFit/>
          </a:bodyPr>
          <a:lstStyle/>
          <a:p>
            <a:pPr algn="l"/>
            <a:r>
              <a:rPr sz="1000" b="0" i="0">
                <a:solidFill>
                  <a:srgbClr val="94A3B8"/>
                </a:solidFill>
              </a:rPr>
              <a:t>Total: 5,344 videos</a:t>
            </a:r>
          </a:p>
        </p:txBody>
      </p:sp>
      <p:sp>
        <p:nvSpPr>
          <p:cNvPr id="31" name="Rectangle 30"/>
          <p:cNvSpPr/>
          <p:nvPr/>
        </p:nvSpPr>
        <p:spPr>
          <a:xfrm>
            <a:off x="365760" y="3840480"/>
            <a:ext cx="8412480" cy="2286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931920"/>
            <a:ext cx="8229600" cy="365760"/>
          </a:xfrm>
          <a:prstGeom prst="rect">
            <a:avLst/>
          </a:prstGeom>
          <a:noFill/>
        </p:spPr>
        <p:txBody>
          <a:bodyPr wrap="square">
            <a:spAutoFit/>
          </a:bodyPr>
          <a:lstStyle/>
          <a:p>
            <a:pPr algn="l"/>
            <a:r>
              <a:rPr sz="1100" b="1" i="0">
                <a:solidFill>
                  <a:srgbClr val="F59E0B"/>
                </a:solidFill>
              </a:rPr>
              <a:t>AI Analysis:</a:t>
            </a:r>
          </a:p>
        </p:txBody>
      </p:sp>
      <p:sp>
        <p:nvSpPr>
          <p:cNvPr id="33" name="TextBox 32"/>
          <p:cNvSpPr txBox="1"/>
          <p:nvPr/>
        </p:nvSpPr>
        <p:spPr>
          <a:xfrm>
            <a:off x="640080" y="4297680"/>
            <a:ext cx="7955279" cy="1828800"/>
          </a:xfrm>
          <a:prstGeom prst="rect">
            <a:avLst/>
          </a:prstGeom>
          <a:noFill/>
        </p:spPr>
        <p:txBody>
          <a:bodyPr wrap="square">
            <a:spAutoFit/>
          </a:bodyPr>
          <a:lstStyle/>
          <a:p>
            <a:pPr algn="l"/>
            <a:r>
              <a:rPr sz="1100" b="0" i="0">
                <a:solidFill>
                  <a:srgbClr val="FFFFFF"/>
                </a:solidFill>
              </a:rPr>
              <a:t>Amazon posts most consistently, with a new video every 0.1 days, followed by Meta with a new video every 1.1 days. Google uploads a new video every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08</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600" b="1" i="0">
                <a:solidFill>
                  <a:srgbClr val="FFFFFF"/>
                </a:solidFill>
              </a:rPr>
              <a:t>GAP ANALYSIS — MISSED OPPORTUNITIES</a:t>
            </a:r>
          </a:p>
        </p:txBody>
      </p:sp>
      <p:sp>
        <p:nvSpPr>
          <p:cNvPr id="5" name="Rectangle 4"/>
          <p:cNvSpPr/>
          <p:nvPr/>
        </p:nvSpPr>
        <p:spPr>
          <a:xfrm>
            <a:off x="457200" y="777240"/>
            <a:ext cx="822960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8412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8229600" cy="457200"/>
          </a:xfrm>
          <a:prstGeom prst="rect">
            <a:avLst/>
          </a:prstGeom>
          <a:noFill/>
        </p:spPr>
        <p:txBody>
          <a:bodyPr wrap="square">
            <a:spAutoFit/>
          </a:bodyPr>
          <a:lstStyle/>
          <a:p>
            <a:pPr algn="l"/>
            <a:r>
              <a:rPr sz="1400" b="1" i="0">
                <a:solidFill>
                  <a:srgbClr val="EF4444"/>
                </a:solidFill>
              </a:rPr>
              <a:t>🔍 Content &amp; Strategy Gaps Identified:</a:t>
            </a:r>
          </a:p>
        </p:txBody>
      </p:sp>
      <p:sp>
        <p:nvSpPr>
          <p:cNvPr id="8" name="TextBox 7"/>
          <p:cNvSpPr txBox="1"/>
          <p:nvPr/>
        </p:nvSpPr>
        <p:spPr>
          <a:xfrm>
            <a:off x="640080" y="1554480"/>
            <a:ext cx="7955279" cy="4572000"/>
          </a:xfrm>
          <a:prstGeom prst="rect">
            <a:avLst/>
          </a:prstGeom>
          <a:noFill/>
        </p:spPr>
        <p:txBody>
          <a:bodyPr wrap="square">
            <a:spAutoFit/>
          </a:bodyPr>
          <a:lstStyle/>
          <a:p>
            <a:pPr algn="l"/>
            <a:r>
              <a:rPr sz="1200" b="0" i="0">
                <a:solidFill>
                  <a:srgbClr val="FFFFFF"/>
                </a:solidFill>
              </a:rPr>
              <a:t>Five specific content gaps that none of the competitors are covering well include:
1. Emerging technologies like blockchain and quantum computing: Google could create content around the applications and implications of these technologies, such as a video series exploring the potential uses of blockchain in various industries.
2. Sustainability and social responsibility: Apple could create content highlighting its efforts to reduce its environmental impact, such as a documentary series showcasing its sustainable manufacturing practices.
3. Accessibility and inclusivity in technology: Microsoft could create content around its efforts to make technology more accessible, such as a video series 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09</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400" b="1" i="0">
                <a:solidFill>
                  <a:srgbClr val="FFFFFF"/>
                </a:solidFill>
              </a:rPr>
              <a:t>RECOMMENDATIONS FOR GOOGLE</a:t>
            </a:r>
          </a:p>
        </p:txBody>
      </p:sp>
      <p:sp>
        <p:nvSpPr>
          <p:cNvPr id="5" name="Rectangle 4"/>
          <p:cNvSpPr/>
          <p:nvPr/>
        </p:nvSpPr>
        <p:spPr>
          <a:xfrm>
            <a:off x="457200" y="777240"/>
            <a:ext cx="82296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84124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8229600" cy="457200"/>
          </a:xfrm>
          <a:prstGeom prst="rect">
            <a:avLst/>
          </a:prstGeom>
          <a:noFill/>
        </p:spPr>
        <p:txBody>
          <a:bodyPr wrap="square">
            <a:spAutoFit/>
          </a:bodyPr>
          <a:lstStyle/>
          <a:p>
            <a:pPr algn="l"/>
            <a:r>
              <a:rPr sz="1400" b="1" i="0">
                <a:solidFill>
                  <a:srgbClr val="10B981"/>
                </a:solidFill>
              </a:rPr>
              <a:t>🚀 Strategic Action Items:</a:t>
            </a:r>
          </a:p>
        </p:txBody>
      </p:sp>
      <p:sp>
        <p:nvSpPr>
          <p:cNvPr id="8" name="TextBox 7"/>
          <p:cNvSpPr txBox="1"/>
          <p:nvPr/>
        </p:nvSpPr>
        <p:spPr>
          <a:xfrm>
            <a:off x="640080" y="1554480"/>
            <a:ext cx="7955279" cy="4572000"/>
          </a:xfrm>
          <a:prstGeom prst="rect">
            <a:avLst/>
          </a:prstGeom>
          <a:noFill/>
        </p:spPr>
        <p:txBody>
          <a:bodyPr wrap="square">
            <a:spAutoFit/>
          </a:bodyPr>
          <a:lstStyle/>
          <a:p>
            <a:pPr algn="l"/>
            <a:r>
              <a:rPr sz="1200" b="0" i="0">
                <a:solidFill>
                  <a:srgbClr val="FFFFFF"/>
                </a:solidFill>
              </a:rPr>
              <a:t>Based on the data, five specific actionable recommendations for Google are:
1. Increase posting frequency to at least every 3 days to improve engagement, considering its current average views per video of 5,587 and average likes per video of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914400" cy="457200"/>
          </a:xfrm>
          <a:prstGeom prst="rect">
            <a:avLst/>
          </a:prstGeom>
          <a:noFill/>
        </p:spPr>
        <p:txBody>
          <a:bodyPr wrap="square">
            <a:spAutoFit/>
          </a:bodyPr>
          <a:lstStyle/>
          <a:p>
            <a:pPr algn="l"/>
            <a:r>
              <a:rPr sz="1100" b="0" i="0">
                <a:solidFill>
                  <a:srgbClr val="94A3B8"/>
                </a:solidFill>
              </a:rPr>
              <a:t>10</a:t>
            </a:r>
          </a:p>
        </p:txBody>
      </p:sp>
      <p:sp>
        <p:nvSpPr>
          <p:cNvPr id="4" name="TextBox 3"/>
          <p:cNvSpPr txBox="1"/>
          <p:nvPr/>
        </p:nvSpPr>
        <p:spPr>
          <a:xfrm>
            <a:off x="457200" y="137160"/>
            <a:ext cx="8229600" cy="548640"/>
          </a:xfrm>
          <a:prstGeom prst="rect">
            <a:avLst/>
          </a:prstGeom>
          <a:noFill/>
        </p:spPr>
        <p:txBody>
          <a:bodyPr wrap="square">
            <a:spAutoFit/>
          </a:bodyPr>
          <a:lstStyle/>
          <a:p>
            <a:pPr algn="ctr"/>
            <a:r>
              <a:rPr sz="2800" b="1" i="0">
                <a:solidFill>
                  <a:srgbClr val="FFFFFF"/>
                </a:solidFill>
              </a:rPr>
              <a:t>COMPANY RANKINGS &amp; SCORES</a:t>
            </a:r>
          </a:p>
        </p:txBody>
      </p:sp>
      <p:sp>
        <p:nvSpPr>
          <p:cNvPr id="5" name="Rectangle 4"/>
          <p:cNvSpPr/>
          <p:nvPr/>
        </p:nvSpPr>
        <p:spPr>
          <a:xfrm>
            <a:off x="457200" y="777240"/>
            <a:ext cx="82296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841248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005840"/>
            <a:ext cx="73152"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97280"/>
            <a:ext cx="548640" cy="548640"/>
          </a:xfrm>
          <a:prstGeom prst="rect">
            <a:avLst/>
          </a:prstGeom>
          <a:noFill/>
        </p:spPr>
        <p:txBody>
          <a:bodyPr wrap="square">
            <a:spAutoFit/>
          </a:bodyPr>
          <a:lstStyle/>
          <a:p>
            <a:pPr algn="l"/>
            <a:r>
              <a:rPr sz="1800" b="0" i="0">
                <a:solidFill>
                  <a:srgbClr val="FFFFFF"/>
                </a:solidFill>
              </a:rPr>
              <a:t>🥇</a:t>
            </a:r>
          </a:p>
        </p:txBody>
      </p:sp>
      <p:sp>
        <p:nvSpPr>
          <p:cNvPr id="9" name="TextBox 8"/>
          <p:cNvSpPr txBox="1"/>
          <p:nvPr/>
        </p:nvSpPr>
        <p:spPr>
          <a:xfrm>
            <a:off x="1188720" y="1097280"/>
            <a:ext cx="3657600" cy="548640"/>
          </a:xfrm>
          <a:prstGeom prst="rect">
            <a:avLst/>
          </a:prstGeom>
          <a:noFill/>
        </p:spPr>
        <p:txBody>
          <a:bodyPr wrap="square">
            <a:spAutoFit/>
          </a:bodyPr>
          <a:lstStyle/>
          <a:p>
            <a:pPr algn="l"/>
            <a:r>
              <a:rPr sz="1600" b="1" i="0">
                <a:solidFill>
                  <a:srgbClr val="10B981"/>
                </a:solidFill>
              </a:rPr>
              <a:t>Apple</a:t>
            </a:r>
          </a:p>
        </p:txBody>
      </p:sp>
      <p:sp>
        <p:nvSpPr>
          <p:cNvPr id="10" name="Rectangle 9"/>
          <p:cNvSpPr/>
          <p:nvPr/>
        </p:nvSpPr>
        <p:spPr>
          <a:xfrm>
            <a:off x="5029200" y="1280160"/>
            <a:ext cx="2880360" cy="274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188720"/>
            <a:ext cx="731520" cy="457200"/>
          </a:xfrm>
          <a:prstGeom prst="rect">
            <a:avLst/>
          </a:prstGeom>
          <a:noFill/>
        </p:spPr>
        <p:txBody>
          <a:bodyPr wrap="square">
            <a:spAutoFit/>
          </a:bodyPr>
          <a:lstStyle/>
          <a:p>
            <a:pPr algn="l"/>
            <a:r>
              <a:rPr sz="1400" b="1" i="0">
                <a:solidFill>
                  <a:srgbClr val="FFFFFF"/>
                </a:solidFill>
              </a:rPr>
              <a:t>9/10</a:t>
            </a:r>
          </a:p>
        </p:txBody>
      </p:sp>
      <p:sp>
        <p:nvSpPr>
          <p:cNvPr id="12" name="Rectangle 11"/>
          <p:cNvSpPr/>
          <p:nvPr/>
        </p:nvSpPr>
        <p:spPr>
          <a:xfrm>
            <a:off x="365760" y="1920240"/>
            <a:ext cx="841248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920240"/>
            <a:ext cx="73152" cy="77724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011680"/>
            <a:ext cx="548640" cy="548640"/>
          </a:xfrm>
          <a:prstGeom prst="rect">
            <a:avLst/>
          </a:prstGeom>
          <a:noFill/>
        </p:spPr>
        <p:txBody>
          <a:bodyPr wrap="square">
            <a:spAutoFit/>
          </a:bodyPr>
          <a:lstStyle/>
          <a:p>
            <a:pPr algn="l"/>
            <a:r>
              <a:rPr sz="1800" b="0" i="0">
                <a:solidFill>
                  <a:srgbClr val="FFFFFF"/>
                </a:solidFill>
              </a:rPr>
              <a:t>🥈</a:t>
            </a:r>
          </a:p>
        </p:txBody>
      </p:sp>
      <p:sp>
        <p:nvSpPr>
          <p:cNvPr id="15" name="TextBox 14"/>
          <p:cNvSpPr txBox="1"/>
          <p:nvPr/>
        </p:nvSpPr>
        <p:spPr>
          <a:xfrm>
            <a:off x="1188720" y="2011680"/>
            <a:ext cx="3657600" cy="548640"/>
          </a:xfrm>
          <a:prstGeom prst="rect">
            <a:avLst/>
          </a:prstGeom>
          <a:noFill/>
        </p:spPr>
        <p:txBody>
          <a:bodyPr wrap="square">
            <a:spAutoFit/>
          </a:bodyPr>
          <a:lstStyle/>
          <a:p>
            <a:pPr algn="l"/>
            <a:r>
              <a:rPr sz="1600" b="1" i="0">
                <a:solidFill>
                  <a:srgbClr val="A855F7"/>
                </a:solidFill>
              </a:rPr>
              <a:t>Amazon</a:t>
            </a:r>
          </a:p>
        </p:txBody>
      </p:sp>
      <p:sp>
        <p:nvSpPr>
          <p:cNvPr id="16" name="Rectangle 15"/>
          <p:cNvSpPr/>
          <p:nvPr/>
        </p:nvSpPr>
        <p:spPr>
          <a:xfrm>
            <a:off x="5029200" y="2194560"/>
            <a:ext cx="2560320" cy="2743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103120"/>
            <a:ext cx="731520" cy="457200"/>
          </a:xfrm>
          <a:prstGeom prst="rect">
            <a:avLst/>
          </a:prstGeom>
          <a:noFill/>
        </p:spPr>
        <p:txBody>
          <a:bodyPr wrap="square">
            <a:spAutoFit/>
          </a:bodyPr>
          <a:lstStyle/>
          <a:p>
            <a:pPr algn="l"/>
            <a:r>
              <a:rPr sz="1400" b="1" i="0">
                <a:solidFill>
                  <a:srgbClr val="FFFFFF"/>
                </a:solidFill>
              </a:rPr>
              <a:t>8/10</a:t>
            </a:r>
          </a:p>
        </p:txBody>
      </p:sp>
      <p:sp>
        <p:nvSpPr>
          <p:cNvPr id="18" name="Rectangle 17"/>
          <p:cNvSpPr/>
          <p:nvPr/>
        </p:nvSpPr>
        <p:spPr>
          <a:xfrm>
            <a:off x="365760" y="2834640"/>
            <a:ext cx="841248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834640"/>
            <a:ext cx="73152"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926080"/>
            <a:ext cx="548640" cy="548640"/>
          </a:xfrm>
          <a:prstGeom prst="rect">
            <a:avLst/>
          </a:prstGeom>
          <a:noFill/>
        </p:spPr>
        <p:txBody>
          <a:bodyPr wrap="square">
            <a:spAutoFit/>
          </a:bodyPr>
          <a:lstStyle/>
          <a:p>
            <a:pPr algn="l"/>
            <a:r>
              <a:rPr sz="1800" b="0" i="0">
                <a:solidFill>
                  <a:srgbClr val="FFFFFF"/>
                </a:solidFill>
              </a:rPr>
              <a:t>🥉</a:t>
            </a:r>
          </a:p>
        </p:txBody>
      </p:sp>
      <p:sp>
        <p:nvSpPr>
          <p:cNvPr id="21" name="TextBox 20"/>
          <p:cNvSpPr txBox="1"/>
          <p:nvPr/>
        </p:nvSpPr>
        <p:spPr>
          <a:xfrm>
            <a:off x="1188720" y="2926080"/>
            <a:ext cx="3657600" cy="548640"/>
          </a:xfrm>
          <a:prstGeom prst="rect">
            <a:avLst/>
          </a:prstGeom>
          <a:noFill/>
        </p:spPr>
        <p:txBody>
          <a:bodyPr wrap="square">
            <a:spAutoFit/>
          </a:bodyPr>
          <a:lstStyle/>
          <a:p>
            <a:pPr algn="l"/>
            <a:r>
              <a:rPr sz="1600" b="1" i="0">
                <a:solidFill>
                  <a:srgbClr val="F59E0B"/>
                </a:solidFill>
              </a:rPr>
              <a:t>Microsoft</a:t>
            </a:r>
          </a:p>
        </p:txBody>
      </p:sp>
      <p:sp>
        <p:nvSpPr>
          <p:cNvPr id="22" name="Rectangle 21"/>
          <p:cNvSpPr/>
          <p:nvPr/>
        </p:nvSpPr>
        <p:spPr>
          <a:xfrm>
            <a:off x="5029200" y="3108960"/>
            <a:ext cx="2240279"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3017520"/>
            <a:ext cx="731520" cy="457200"/>
          </a:xfrm>
          <a:prstGeom prst="rect">
            <a:avLst/>
          </a:prstGeom>
          <a:noFill/>
        </p:spPr>
        <p:txBody>
          <a:bodyPr wrap="square">
            <a:spAutoFit/>
          </a:bodyPr>
          <a:lstStyle/>
          <a:p>
            <a:pPr algn="l"/>
            <a:r>
              <a:rPr sz="1400" b="1" i="0">
                <a:solidFill>
                  <a:srgbClr val="FFFFFF"/>
                </a:solidFill>
              </a:rPr>
              <a:t>7/10</a:t>
            </a:r>
          </a:p>
        </p:txBody>
      </p:sp>
      <p:sp>
        <p:nvSpPr>
          <p:cNvPr id="24" name="Rectangle 23"/>
          <p:cNvSpPr/>
          <p:nvPr/>
        </p:nvSpPr>
        <p:spPr>
          <a:xfrm>
            <a:off x="365760" y="3749039"/>
            <a:ext cx="841248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749039"/>
            <a:ext cx="73152"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840479"/>
            <a:ext cx="548640" cy="548640"/>
          </a:xfrm>
          <a:prstGeom prst="rect">
            <a:avLst/>
          </a:prstGeom>
          <a:noFill/>
        </p:spPr>
        <p:txBody>
          <a:bodyPr wrap="square">
            <a:spAutoFit/>
          </a:bodyPr>
          <a:lstStyle/>
          <a:p>
            <a:pPr algn="l"/>
            <a:r>
              <a:rPr sz="1800" b="0" i="0">
                <a:solidFill>
                  <a:srgbClr val="FFFFFF"/>
                </a:solidFill>
              </a:rPr>
              <a:t>4️⃣</a:t>
            </a:r>
          </a:p>
        </p:txBody>
      </p:sp>
      <p:sp>
        <p:nvSpPr>
          <p:cNvPr id="27" name="TextBox 26"/>
          <p:cNvSpPr txBox="1"/>
          <p:nvPr/>
        </p:nvSpPr>
        <p:spPr>
          <a:xfrm>
            <a:off x="1188720" y="3840479"/>
            <a:ext cx="3657600" cy="548640"/>
          </a:xfrm>
          <a:prstGeom prst="rect">
            <a:avLst/>
          </a:prstGeom>
          <a:noFill/>
        </p:spPr>
        <p:txBody>
          <a:bodyPr wrap="square">
            <a:spAutoFit/>
          </a:bodyPr>
          <a:lstStyle/>
          <a:p>
            <a:pPr algn="l"/>
            <a:r>
              <a:rPr sz="1600" b="1" i="0">
                <a:solidFill>
                  <a:srgbClr val="3B82F6"/>
                </a:solidFill>
              </a:rPr>
              <a:t>Google</a:t>
            </a:r>
          </a:p>
        </p:txBody>
      </p:sp>
      <p:sp>
        <p:nvSpPr>
          <p:cNvPr id="28" name="Rectangle 27"/>
          <p:cNvSpPr/>
          <p:nvPr/>
        </p:nvSpPr>
        <p:spPr>
          <a:xfrm>
            <a:off x="5029200" y="4023359"/>
            <a:ext cx="1920240" cy="2743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3931920"/>
            <a:ext cx="731520" cy="457200"/>
          </a:xfrm>
          <a:prstGeom prst="rect">
            <a:avLst/>
          </a:prstGeom>
          <a:noFill/>
        </p:spPr>
        <p:txBody>
          <a:bodyPr wrap="square">
            <a:spAutoFit/>
          </a:bodyPr>
          <a:lstStyle/>
          <a:p>
            <a:pPr algn="l"/>
            <a:r>
              <a:rPr sz="1400" b="1" i="0">
                <a:solidFill>
                  <a:srgbClr val="FFFFFF"/>
                </a:solidFill>
              </a:rPr>
              <a:t>6/10</a:t>
            </a:r>
          </a:p>
        </p:txBody>
      </p:sp>
      <p:sp>
        <p:nvSpPr>
          <p:cNvPr id="30" name="Rectangle 29"/>
          <p:cNvSpPr/>
          <p:nvPr/>
        </p:nvSpPr>
        <p:spPr>
          <a:xfrm>
            <a:off x="365760" y="4663440"/>
            <a:ext cx="841248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4663440"/>
            <a:ext cx="73152"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754879"/>
            <a:ext cx="548640" cy="548640"/>
          </a:xfrm>
          <a:prstGeom prst="rect">
            <a:avLst/>
          </a:prstGeom>
          <a:noFill/>
        </p:spPr>
        <p:txBody>
          <a:bodyPr wrap="square">
            <a:spAutoFit/>
          </a:bodyPr>
          <a:lstStyle/>
          <a:p>
            <a:pPr algn="l"/>
            <a:r>
              <a:rPr sz="1800" b="0" i="0">
                <a:solidFill>
                  <a:srgbClr val="FFFFFF"/>
                </a:solidFill>
              </a:rPr>
              <a:t>5️⃣</a:t>
            </a:r>
          </a:p>
        </p:txBody>
      </p:sp>
      <p:sp>
        <p:nvSpPr>
          <p:cNvPr id="33" name="TextBox 32"/>
          <p:cNvSpPr txBox="1"/>
          <p:nvPr/>
        </p:nvSpPr>
        <p:spPr>
          <a:xfrm>
            <a:off x="1188720" y="4754879"/>
            <a:ext cx="3657600" cy="548640"/>
          </a:xfrm>
          <a:prstGeom prst="rect">
            <a:avLst/>
          </a:prstGeom>
          <a:noFill/>
        </p:spPr>
        <p:txBody>
          <a:bodyPr wrap="square">
            <a:spAutoFit/>
          </a:bodyPr>
          <a:lstStyle/>
          <a:p>
            <a:pPr algn="l"/>
            <a:r>
              <a:rPr sz="1600" b="1" i="0">
                <a:solidFill>
                  <a:srgbClr val="EF4444"/>
                </a:solidFill>
              </a:rPr>
              <a:t>Meta</a:t>
            </a:r>
          </a:p>
        </p:txBody>
      </p:sp>
      <p:sp>
        <p:nvSpPr>
          <p:cNvPr id="34" name="Rectangle 33"/>
          <p:cNvSpPr/>
          <p:nvPr/>
        </p:nvSpPr>
        <p:spPr>
          <a:xfrm>
            <a:off x="5029200" y="4937759"/>
            <a:ext cx="1920240" cy="2743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4846320"/>
            <a:ext cx="731520" cy="457200"/>
          </a:xfrm>
          <a:prstGeom prst="rect">
            <a:avLst/>
          </a:prstGeom>
          <a:noFill/>
        </p:spPr>
        <p:txBody>
          <a:bodyPr wrap="square">
            <a:spAutoFit/>
          </a:bodyPr>
          <a:lstStyle/>
          <a:p>
            <a:pPr algn="l"/>
            <a:r>
              <a:rPr sz="1400" b="1" i="0">
                <a:solidFill>
                  <a:srgbClr val="FFFFFF"/>
                </a:solidFill>
              </a:rPr>
              <a:t>6/10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914400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8229600" cy="1097280"/>
          </a:xfrm>
          <a:prstGeom prst="rect">
            <a:avLst/>
          </a:prstGeom>
          <a:noFill/>
        </p:spPr>
        <p:txBody>
          <a:bodyPr wrap="square">
            <a:spAutoFit/>
          </a:bodyPr>
          <a:lstStyle/>
          <a:p>
            <a:pPr algn="ctr"/>
            <a:r>
              <a:rPr sz="4800" b="1" i="0">
                <a:solidFill>
                  <a:srgbClr val="FFFFFF"/>
                </a:solidFill>
              </a:rPr>
              <a:t>THANK YOU</a:t>
            </a:r>
          </a:p>
        </p:txBody>
      </p:sp>
      <p:sp>
        <p:nvSpPr>
          <p:cNvPr id="4" name="TextBox 3"/>
          <p:cNvSpPr txBox="1"/>
          <p:nvPr/>
        </p:nvSpPr>
        <p:spPr>
          <a:xfrm>
            <a:off x="457200" y="2560320"/>
            <a:ext cx="8229600" cy="731520"/>
          </a:xfrm>
          <a:prstGeom prst="rect">
            <a:avLst/>
          </a:prstGeom>
          <a:noFill/>
        </p:spPr>
        <p:txBody>
          <a:bodyPr wrap="square">
            <a:spAutoFit/>
          </a:bodyPr>
          <a:lstStyle/>
          <a:p>
            <a:pPr algn="ctr"/>
            <a:r>
              <a:rPr sz="2000" b="0" i="0">
                <a:solidFill>
                  <a:srgbClr val="94A3B8"/>
                </a:solidFill>
              </a:rPr>
              <a:t>Video Intelligence Report Complete</a:t>
            </a:r>
          </a:p>
        </p:txBody>
      </p:sp>
      <p:sp>
        <p:nvSpPr>
          <p:cNvPr id="5" name="Rectangle 4"/>
          <p:cNvSpPr/>
          <p:nvPr/>
        </p:nvSpPr>
        <p:spPr>
          <a:xfrm>
            <a:off x="2743200" y="347472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749039"/>
            <a:ext cx="8229600" cy="457200"/>
          </a:xfrm>
          <a:prstGeom prst="rect">
            <a:avLst/>
          </a:prstGeom>
          <a:noFill/>
        </p:spPr>
        <p:txBody>
          <a:bodyPr wrap="square">
            <a:spAutoFit/>
          </a:bodyPr>
          <a:lstStyle/>
          <a:p>
            <a:pPr algn="ctr"/>
            <a:r>
              <a:rPr sz="1400" b="0" i="0">
                <a:solidFill>
                  <a:srgbClr val="10B981"/>
                </a:solidFill>
              </a:rPr>
              <a:t>Prepared for: Google</a:t>
            </a:r>
          </a:p>
        </p:txBody>
      </p:sp>
      <p:sp>
        <p:nvSpPr>
          <p:cNvPr id="7" name="TextBox 6"/>
          <p:cNvSpPr txBox="1"/>
          <p:nvPr/>
        </p:nvSpPr>
        <p:spPr>
          <a:xfrm>
            <a:off x="457200" y="4297680"/>
            <a:ext cx="8229600" cy="457200"/>
          </a:xfrm>
          <a:prstGeom prst="rect">
            <a:avLst/>
          </a:prstGeom>
          <a:noFill/>
        </p:spPr>
        <p:txBody>
          <a:bodyPr wrap="square">
            <a:spAutoFit/>
          </a:bodyPr>
          <a:lstStyle/>
          <a:p>
            <a:pPr algn="ctr"/>
            <a:r>
              <a:rPr sz="1200" b="0" i="0">
                <a:solidFill>
                  <a:srgbClr val="94A3B8"/>
                </a:solidFill>
              </a:rPr>
              <a:t>Generated on May 20, 2026</a:t>
            </a:r>
          </a:p>
        </p:txBody>
      </p:sp>
      <p:sp>
        <p:nvSpPr>
          <p:cNvPr id="8" name="Rectangle 7"/>
          <p:cNvSpPr/>
          <p:nvPr/>
        </p:nvSpPr>
        <p:spPr>
          <a:xfrm>
            <a:off x="0" y="6309360"/>
            <a:ext cx="9144000" cy="91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